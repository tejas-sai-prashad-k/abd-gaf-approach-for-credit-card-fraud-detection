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3.xml" ContentType="application/vnd.openxmlformats-officedocument.presentationml.slideLayout+xml"/>
  <Override PartName="/ppt/theme/theme4.xml" ContentType="application/vnd.openxmlformats-officedocument.theme+xml"/>
  <Override PartName="/ppt/slideLayouts/slideLayout4.xml" ContentType="application/vnd.openxmlformats-officedocument.presentationml.slideLayout+xml"/>
  <Override PartName="/ppt/theme/theme5.xml" ContentType="application/vnd.openxmlformats-officedocument.theme+xml"/>
  <Override PartName="/ppt/slideLayouts/slideLayout5.xml" ContentType="application/vnd.openxmlformats-officedocument.presentationml.slideLayout+xml"/>
  <Override PartName="/ppt/theme/theme6.xml" ContentType="application/vnd.openxmlformats-officedocument.theme+xml"/>
  <Override PartName="/ppt/slideLayouts/slideLayout6.xml" ContentType="application/vnd.openxmlformats-officedocument.presentationml.slideLayout+xml"/>
  <Override PartName="/ppt/theme/theme7.xml" ContentType="application/vnd.openxmlformats-officedocument.theme+xml"/>
  <Override PartName="/ppt/slideLayouts/slideLayout7.xml" ContentType="application/vnd.openxmlformats-officedocument.presentationml.slideLayout+xml"/>
  <Override PartName="/ppt/theme/theme8.xml" ContentType="application/vnd.openxmlformats-officedocument.theme+xml"/>
  <Override PartName="/ppt/slideLayouts/slideLayout8.xml" ContentType="application/vnd.openxmlformats-officedocument.presentationml.slideLayout+xml"/>
  <Override PartName="/ppt/theme/theme9.xml" ContentType="application/vnd.openxmlformats-officedocument.theme+xml"/>
  <Override PartName="/ppt/slideLayouts/slideLayout9.xml" ContentType="application/vnd.openxmlformats-officedocument.presentationml.slideLayout+xml"/>
  <Override PartName="/ppt/theme/theme10.xml" ContentType="application/vnd.openxmlformats-officedocument.theme+xml"/>
  <Override PartName="/ppt/slideLayouts/slideLayout10.xml" ContentType="application/vnd.openxmlformats-officedocument.presentationml.slideLayout+xml"/>
  <Override PartName="/ppt/theme/theme11.xml" ContentType="application/vnd.openxmlformats-officedocument.theme+xml"/>
  <Override PartName="/ppt/slideLayouts/slideLayout1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 id="2147483661" r:id="rId3"/>
    <p:sldMasterId id="2147483662" r:id="rId4"/>
    <p:sldMasterId id="2147483663" r:id="rId5"/>
    <p:sldMasterId id="2147483664" r:id="rId6"/>
    <p:sldMasterId id="2147483665" r:id="rId7"/>
    <p:sldMasterId id="2147483666" r:id="rId8"/>
    <p:sldMasterId id="2147483667" r:id="rId9"/>
    <p:sldMasterId id="2147483668" r:id="rId10"/>
    <p:sldMasterId id="2147483669" r:id="rId11"/>
    <p:sldMasterId id="2147483670" r:id="rId12"/>
  </p:sldMasterIdLst>
  <p:notesMasterIdLst>
    <p:notesMasterId r:id="rId28"/>
  </p:notesMasterIdLst>
  <p:sldIdLst>
    <p:sldId id="256" r:id="rId13"/>
    <p:sldId id="257" r:id="rId14"/>
    <p:sldId id="258" r:id="rId15"/>
    <p:sldId id="259" r:id="rId16"/>
    <p:sldId id="260" r:id="rId17"/>
    <p:sldId id="261" r:id="rId18"/>
    <p:sldId id="262" r:id="rId19"/>
    <p:sldId id="264" r:id="rId20"/>
    <p:sldId id="272" r:id="rId21"/>
    <p:sldId id="270" r:id="rId22"/>
    <p:sldId id="274" r:id="rId23"/>
    <p:sldId id="280" r:id="rId24"/>
    <p:sldId id="281" r:id="rId25"/>
    <p:sldId id="278" r:id="rId26"/>
    <p:sldId id="271"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2DB9A3-42EF-4790-A23E-B927010BC056}">
  <a:tblStyle styleId="{C12DB9A3-42EF-4790-A23E-B927010BC05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94659"/>
  </p:normalViewPr>
  <p:slideViewPr>
    <p:cSldViewPr snapToGrid="0">
      <p:cViewPr varScale="1">
        <p:scale>
          <a:sx n="147" d="100"/>
          <a:sy n="147" d="100"/>
        </p:scale>
        <p:origin x="224"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slide" Target="slides/slide9.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4" name="Google Shape;4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3"/>
        <p:cNvGrpSpPr/>
        <p:nvPr/>
      </p:nvGrpSpPr>
      <p:grpSpPr>
        <a:xfrm>
          <a:off x="0" y="0"/>
          <a:ext cx="0" cy="0"/>
          <a:chOff x="0" y="0"/>
          <a:chExt cx="0" cy="0"/>
        </a:xfrm>
      </p:grpSpPr>
      <p:sp>
        <p:nvSpPr>
          <p:cNvPr id="54" name="Google Shape;54;p9"/>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6"/>
        <p:cNvGrpSpPr/>
        <p:nvPr/>
      </p:nvGrpSpPr>
      <p:grpSpPr>
        <a:xfrm>
          <a:off x="0" y="0"/>
          <a:ext cx="0" cy="0"/>
          <a:chOff x="0" y="0"/>
          <a:chExt cx="0" cy="0"/>
        </a:xfrm>
      </p:grpSpPr>
      <p:sp>
        <p:nvSpPr>
          <p:cNvPr id="67" name="Google Shape;6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9" name="Google Shape;6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1" name="Google Shape;7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p13"/>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2"/>
        <p:cNvGrpSpPr/>
        <p:nvPr/>
      </p:nvGrpSpPr>
      <p:grpSpPr>
        <a:xfrm>
          <a:off x="0" y="0"/>
          <a:ext cx="0" cy="0"/>
          <a:chOff x="0" y="0"/>
          <a:chExt cx="0" cy="0"/>
        </a:xfrm>
      </p:grpSpPr>
      <p:sp>
        <p:nvSpPr>
          <p:cNvPr id="93" name="Google Shape;93;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2"/>
        <p:cNvGrpSpPr/>
        <p:nvPr/>
      </p:nvGrpSpPr>
      <p:grpSpPr>
        <a:xfrm>
          <a:off x="0" y="0"/>
          <a:ext cx="0" cy="0"/>
          <a:chOff x="0" y="0"/>
          <a:chExt cx="0" cy="0"/>
        </a:xfrm>
      </p:grpSpPr>
      <p:sp>
        <p:nvSpPr>
          <p:cNvPr id="103" name="Google Shape;103;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5" name="Google Shape;105;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19"/>
          <p:cNvSpPr>
            <a:spLocks noGrp="1"/>
          </p:cNvSpPr>
          <p:nvPr>
            <p:ph type="pic" idx="2"/>
          </p:nvPr>
        </p:nvSpPr>
        <p:spPr>
          <a:xfrm>
            <a:off x="5183188" y="987425"/>
            <a:ext cx="6172200" cy="4873625"/>
          </a:xfrm>
          <a:prstGeom prst="rect">
            <a:avLst/>
          </a:prstGeom>
          <a:noFill/>
          <a:ln>
            <a:noFill/>
          </a:ln>
        </p:spPr>
      </p:sp>
      <p:sp>
        <p:nvSpPr>
          <p:cNvPr id="118" name="Google Shape;118;p1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9" name="Google Shape;119;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21"/>
          <p:cNvSpPr txBox="1">
            <a:spLocks noGrp="1"/>
          </p:cNvSpPr>
          <p:nvPr>
            <p:ph type="body" idx="1"/>
          </p:nvPr>
        </p:nvSpPr>
        <p:spPr>
          <a:xfrm rot="5400000">
            <a:off x="3920332" y="-1256507"/>
            <a:ext cx="4351337"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1" name="Google Shape;13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0"/>
        <p:cNvGrpSpPr/>
        <p:nvPr/>
      </p:nvGrpSpPr>
      <p:grpSpPr>
        <a:xfrm>
          <a:off x="0" y="0"/>
          <a:ext cx="0" cy="0"/>
          <a:chOff x="0" y="0"/>
          <a:chExt cx="0" cy="0"/>
        </a:xfrm>
      </p:grpSpPr>
      <p:sp>
        <p:nvSpPr>
          <p:cNvPr id="141" name="Google Shape;141;p2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2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3" name="Google Shape;14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4.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5.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6.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7.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8.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9.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0.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3"/>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5"/>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7" name="Google Shape;37;p6"/>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8" name="Google Shape;3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9" name="Google Shape;49;p8"/>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
        <p:cNvGrpSpPr/>
        <p:nvPr/>
      </p:nvGrpSpPr>
      <p:grpSpPr>
        <a:xfrm>
          <a:off x="0" y="0"/>
          <a:ext cx="0" cy="0"/>
          <a:chOff x="0" y="0"/>
          <a:chExt cx="0" cy="0"/>
        </a:xfrm>
      </p:grpSpPr>
      <p:sp>
        <p:nvSpPr>
          <p:cNvPr id="61" name="Google Shape;61;p10"/>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2" name="Google Shape;62;p10"/>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3" name="Google Shape;6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7" name="Google Shape;77;p12"/>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0" name="Google Shape;8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6"/>
        <p:cNvGrpSpPr/>
        <p:nvPr/>
      </p:nvGrpSpPr>
      <p:grpSpPr>
        <a:xfrm>
          <a:off x="0" y="0"/>
          <a:ext cx="0" cy="0"/>
          <a:chOff x="0" y="0"/>
          <a:chExt cx="0" cy="0"/>
        </a:xfrm>
      </p:grpSpPr>
      <p:sp>
        <p:nvSpPr>
          <p:cNvPr id="87" name="Google Shape;87;p14"/>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8" name="Google Shape;88;p14"/>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 name="Google Shape;9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
        <p:cNvGrpSpPr/>
        <p:nvPr/>
      </p:nvGrpSpPr>
      <p:grpSpPr>
        <a:xfrm>
          <a:off x="0" y="0"/>
          <a:ext cx="0" cy="0"/>
          <a:chOff x="0" y="0"/>
          <a:chExt cx="0" cy="0"/>
        </a:xfrm>
      </p:grpSpPr>
      <p:sp>
        <p:nvSpPr>
          <p:cNvPr id="97" name="Google Shape;97;p16"/>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8" name="Google Shape;98;p16"/>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9" name="Google Shape;99;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9"/>
        <p:cNvGrpSpPr/>
        <p:nvPr/>
      </p:nvGrpSpPr>
      <p:grpSpPr>
        <a:xfrm>
          <a:off x="0" y="0"/>
          <a:ext cx="0" cy="0"/>
          <a:chOff x="0" y="0"/>
          <a:chExt cx="0" cy="0"/>
        </a:xfrm>
      </p:grpSpPr>
      <p:sp>
        <p:nvSpPr>
          <p:cNvPr id="110" name="Google Shape;110;p18"/>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1" name="Google Shape;111;p18"/>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2" name="Google Shape;1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3" name="Google Shape;1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4" name="Google Shape;1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p:cNvGrpSpPr/>
        <p:nvPr/>
      </p:nvGrpSpPr>
      <p:grpSpPr>
        <a:xfrm>
          <a:off x="0" y="0"/>
          <a:ext cx="0" cy="0"/>
          <a:chOff x="0" y="0"/>
          <a:chExt cx="0" cy="0"/>
        </a:xfrm>
      </p:grpSpPr>
      <p:sp>
        <p:nvSpPr>
          <p:cNvPr id="123" name="Google Shape;123;p20"/>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4" name="Google Shape;124;p20"/>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5" name="Google Shape;12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6" name="Google Shape;12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7" name="Google Shape;12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4"/>
        <p:cNvGrpSpPr/>
        <p:nvPr/>
      </p:nvGrpSpPr>
      <p:grpSpPr>
        <a:xfrm>
          <a:off x="0" y="0"/>
          <a:ext cx="0" cy="0"/>
          <a:chOff x="0" y="0"/>
          <a:chExt cx="0" cy="0"/>
        </a:xfrm>
      </p:grpSpPr>
      <p:sp>
        <p:nvSpPr>
          <p:cNvPr id="135" name="Google Shape;135;p2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6" name="Google Shape;136;p22"/>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7" name="Google Shape;13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8" name="Google Shape;13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9" name="Google Shape;13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subTitle" idx="1"/>
          </p:nvPr>
        </p:nvSpPr>
        <p:spPr>
          <a:xfrm>
            <a:off x="1193800" y="1989137"/>
            <a:ext cx="9702800" cy="693737"/>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4000"/>
              <a:buNone/>
            </a:pPr>
            <a:r>
              <a:rPr lang="en-US" sz="3100" b="0" i="0" u="none">
                <a:solidFill>
                  <a:schemeClr val="dk1"/>
                </a:solidFill>
                <a:latin typeface="Calibri"/>
                <a:ea typeface="Calibri"/>
                <a:cs typeface="Calibri"/>
                <a:sym typeface="Calibri"/>
              </a:rPr>
              <a:t>School of Computer Science and Engineering</a:t>
            </a:r>
            <a:endParaRPr sz="1500"/>
          </a:p>
        </p:txBody>
      </p:sp>
      <p:pic>
        <p:nvPicPr>
          <p:cNvPr id="151" name="Google Shape;151;p24"/>
          <p:cNvPicPr preferRelativeResize="0"/>
          <p:nvPr/>
        </p:nvPicPr>
        <p:blipFill rotWithShape="1">
          <a:blip r:embed="rId3">
            <a:alphaModFix/>
          </a:blip>
          <a:srcRect/>
          <a:stretch/>
        </p:blipFill>
        <p:spPr>
          <a:xfrm>
            <a:off x="4090987" y="528637"/>
            <a:ext cx="3452812" cy="1371600"/>
          </a:xfrm>
          <a:prstGeom prst="rect">
            <a:avLst/>
          </a:prstGeom>
          <a:noFill/>
          <a:ln>
            <a:noFill/>
          </a:ln>
        </p:spPr>
      </p:pic>
      <p:sp>
        <p:nvSpPr>
          <p:cNvPr id="152" name="Google Shape;152;p24"/>
          <p:cNvSpPr txBox="1"/>
          <p:nvPr/>
        </p:nvSpPr>
        <p:spPr>
          <a:xfrm>
            <a:off x="709550" y="3308977"/>
            <a:ext cx="10671300" cy="15696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Calibri"/>
              <a:buNone/>
            </a:pPr>
            <a:r>
              <a:rPr lang="en-IN" sz="3200" dirty="0">
                <a:solidFill>
                  <a:schemeClr val="dk1"/>
                </a:solidFill>
                <a:latin typeface="Calibri"/>
                <a:cs typeface="Calibri"/>
              </a:rPr>
              <a:t>Adaptive </a:t>
            </a:r>
            <a:r>
              <a:rPr lang="en-IN" sz="3200" dirty="0" err="1">
                <a:solidFill>
                  <a:schemeClr val="dk1"/>
                </a:solidFill>
                <a:latin typeface="Calibri"/>
                <a:cs typeface="Calibri"/>
              </a:rPr>
              <a:t>Behavioral</a:t>
            </a:r>
            <a:r>
              <a:rPr lang="en-IN" sz="3200" dirty="0">
                <a:solidFill>
                  <a:schemeClr val="dk1"/>
                </a:solidFill>
                <a:latin typeface="Calibri"/>
                <a:cs typeface="Calibri"/>
              </a:rPr>
              <a:t>-Drift and Graph-Anomaly Fusion (ABD-GAF) Approach for Credit Card Fraud Detection</a:t>
            </a:r>
            <a:endParaRPr sz="3200" dirty="0">
              <a:solidFill>
                <a:schemeClr val="dk1"/>
              </a:solidFill>
              <a:latin typeface="Calibri"/>
              <a:cs typeface="Calibri"/>
              <a:sym typeface="Calibri"/>
            </a:endParaRPr>
          </a:p>
          <a:p>
            <a:pPr marL="0" marR="0" lvl="0" indent="0" algn="ctr" rtl="0">
              <a:lnSpc>
                <a:spcPct val="100000"/>
              </a:lnSpc>
              <a:spcBef>
                <a:spcPts val="0"/>
              </a:spcBef>
              <a:spcAft>
                <a:spcPts val="0"/>
              </a:spcAft>
              <a:buClr>
                <a:schemeClr val="dk1"/>
              </a:buClr>
              <a:buSzPts val="3200"/>
              <a:buFont typeface="Calibri"/>
              <a:buNone/>
            </a:pPr>
            <a:endParaRPr sz="3200" dirty="0">
              <a:solidFill>
                <a:schemeClr val="dk1"/>
              </a:solidFill>
              <a:latin typeface="Calibri"/>
              <a:ea typeface="Calibri"/>
              <a:cs typeface="Calibri"/>
              <a:sym typeface="Calibri"/>
            </a:endParaRPr>
          </a:p>
        </p:txBody>
      </p:sp>
      <p:sp>
        <p:nvSpPr>
          <p:cNvPr id="153" name="Google Shape;153;p24"/>
          <p:cNvSpPr txBox="1"/>
          <p:nvPr/>
        </p:nvSpPr>
        <p:spPr>
          <a:xfrm>
            <a:off x="760362" y="2570600"/>
            <a:ext cx="10671300" cy="477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800"/>
              <a:buFont typeface="Calibri"/>
              <a:buNone/>
            </a:pPr>
            <a:r>
              <a:rPr lang="en-US" sz="2500" b="0" i="0" u="none" strike="noStrike" cap="none" dirty="0">
                <a:solidFill>
                  <a:schemeClr val="dk1"/>
                </a:solidFill>
                <a:latin typeface="Calibri"/>
                <a:ea typeface="Calibri"/>
                <a:cs typeface="Calibri"/>
                <a:sym typeface="Calibri"/>
              </a:rPr>
              <a:t>Deep Learning Project Review-1</a:t>
            </a:r>
            <a:endParaRPr sz="1100" dirty="0"/>
          </a:p>
        </p:txBody>
      </p:sp>
      <p:sp>
        <p:nvSpPr>
          <p:cNvPr id="155" name="Google Shape;155;p24"/>
          <p:cNvSpPr txBox="1"/>
          <p:nvPr/>
        </p:nvSpPr>
        <p:spPr>
          <a:xfrm>
            <a:off x="7214700" y="5179858"/>
            <a:ext cx="4977300" cy="11495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alibri"/>
              <a:buNone/>
            </a:pPr>
            <a:r>
              <a:rPr lang="en-US" sz="2400" dirty="0">
                <a:solidFill>
                  <a:schemeClr val="dk1"/>
                </a:solidFill>
                <a:latin typeface="Calibri"/>
                <a:ea typeface="Calibri"/>
                <a:cs typeface="Calibri"/>
                <a:sym typeface="Calibri"/>
              </a:rPr>
              <a:t>          </a:t>
            </a:r>
            <a:r>
              <a:rPr lang="en-US" sz="2400" b="0" i="0" u="none" strike="noStrike" cap="none" dirty="0">
                <a:solidFill>
                  <a:schemeClr val="dk1"/>
                </a:solidFill>
                <a:latin typeface="Calibri"/>
                <a:ea typeface="Calibri"/>
                <a:cs typeface="Calibri"/>
                <a:sym typeface="Calibri"/>
              </a:rPr>
              <a:t>Presented by</a:t>
            </a:r>
            <a:endParaRPr sz="24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US" sz="1800" dirty="0">
                <a:solidFill>
                  <a:schemeClr val="dk1"/>
                </a:solidFill>
              </a:rPr>
              <a:t>Tejas Sai Prashad, 23BCE7754</a:t>
            </a:r>
            <a:endParaRPr sz="1800" dirty="0">
              <a:solidFill>
                <a:schemeClr val="dk1"/>
              </a:solidFill>
            </a:endParaRPr>
          </a:p>
          <a:p>
            <a:pPr marL="0" marR="0" lvl="0" indent="0" algn="l" rtl="0">
              <a:lnSpc>
                <a:spcPct val="100000"/>
              </a:lnSpc>
              <a:spcBef>
                <a:spcPts val="0"/>
              </a:spcBef>
              <a:spcAft>
                <a:spcPts val="0"/>
              </a:spcAft>
              <a:buClr>
                <a:schemeClr val="dk1"/>
              </a:buClr>
              <a:buSzPts val="2400"/>
              <a:buFont typeface="Calibri"/>
              <a:buNone/>
            </a:pPr>
            <a:endParaRPr sz="2400"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5"/>
          <p:cNvSpPr txBox="1">
            <a:spLocks noGrp="1"/>
          </p:cNvSpPr>
          <p:nvPr>
            <p:ph type="title"/>
          </p:nvPr>
        </p:nvSpPr>
        <p:spPr>
          <a:xfrm>
            <a:off x="838200" y="187375"/>
            <a:ext cx="10515600" cy="1325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4400" b="1" i="0" u="none">
                <a:solidFill>
                  <a:schemeClr val="dk1"/>
                </a:solidFill>
                <a:latin typeface="Calibri"/>
                <a:ea typeface="Calibri"/>
                <a:cs typeface="Calibri"/>
                <a:sym typeface="Calibri"/>
              </a:rPr>
              <a:t>ABSTRACT</a:t>
            </a:r>
            <a:endParaRPr/>
          </a:p>
        </p:txBody>
      </p:sp>
      <p:sp>
        <p:nvSpPr>
          <p:cNvPr id="161" name="Google Shape;161;p25"/>
          <p:cNvSpPr txBox="1">
            <a:spLocks noGrp="1"/>
          </p:cNvSpPr>
          <p:nvPr>
            <p:ph type="body" idx="1"/>
          </p:nvPr>
        </p:nvSpPr>
        <p:spPr>
          <a:xfrm>
            <a:off x="838200" y="1376525"/>
            <a:ext cx="10515600" cy="4351200"/>
          </a:xfrm>
          <a:prstGeom prst="rect">
            <a:avLst/>
          </a:prstGeom>
          <a:noFill/>
          <a:ln>
            <a:noFill/>
          </a:ln>
        </p:spPr>
        <p:txBody>
          <a:bodyPr spcFirstLastPara="1" wrap="square" lIns="91425" tIns="45700" rIns="91425" bIns="45700" anchor="t" anchorCtr="0">
            <a:noAutofit/>
          </a:bodyPr>
          <a:lstStyle/>
          <a:p>
            <a:pPr algn="l"/>
            <a:r>
              <a:rPr lang="en-IN" sz="2000" b="0" i="0" dirty="0">
                <a:effectLst/>
                <a:latin typeface="+mn-lt"/>
              </a:rPr>
              <a:t>Credit card fraud detection is a critical problem in modern digital payment systems because fraudsters continuously change their strategies and genuine user </a:t>
            </a:r>
            <a:r>
              <a:rPr lang="en-IN" sz="2000" b="0" i="0" dirty="0" err="1">
                <a:effectLst/>
                <a:latin typeface="+mn-lt"/>
              </a:rPr>
              <a:t>behavior</a:t>
            </a:r>
            <a:r>
              <a:rPr lang="en-IN" sz="2000" b="0" i="0" dirty="0">
                <a:effectLst/>
                <a:latin typeface="+mn-lt"/>
              </a:rPr>
              <a:t> also evolves over time. Static machine learning models often fail in such non-stationary environments because they cannot adapt to concept drift, and they also miss relational fraud patterns that appear in transaction networks. To address these issues, the proposed ABD-GAF framework combines </a:t>
            </a:r>
            <a:r>
              <a:rPr lang="en-IN" sz="2000" b="0" i="0" dirty="0" err="1">
                <a:effectLst/>
                <a:latin typeface="+mn-lt"/>
              </a:rPr>
              <a:t>behavioral</a:t>
            </a:r>
            <a:r>
              <a:rPr lang="en-IN" sz="2000" b="0" i="0" dirty="0">
                <a:effectLst/>
                <a:latin typeface="+mn-lt"/>
              </a:rPr>
              <a:t> drift detection with graph anomaly detection to build a more adaptive and robust fraud detection system.</a:t>
            </a:r>
          </a:p>
          <a:p>
            <a:pPr algn="l"/>
            <a:r>
              <a:rPr lang="en-IN" sz="2000" b="0" i="0" dirty="0">
                <a:effectLst/>
                <a:latin typeface="+mn-lt"/>
              </a:rPr>
              <a:t>The </a:t>
            </a:r>
            <a:r>
              <a:rPr lang="en-IN" sz="2000" b="0" i="0" dirty="0" err="1">
                <a:effectLst/>
                <a:latin typeface="+mn-lt"/>
              </a:rPr>
              <a:t>behavioral</a:t>
            </a:r>
            <a:r>
              <a:rPr lang="en-IN" sz="2000" b="0" i="0" dirty="0">
                <a:effectLst/>
                <a:latin typeface="+mn-lt"/>
              </a:rPr>
              <a:t> component monitors shifts in transaction patterns such as amount, frequency, and timing, while the graph component models relationships between entities like cards, merchants, and devices to uncover suspicious subgraphs and coordinated fraud rings. The fusion layer then combines these two signals into a single fraud probability score. This hybrid approach improves detection performance, reduces false positives, and makes the system more suitable for real-time financial monitoring.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4400" b="1" i="0" u="none">
                <a:solidFill>
                  <a:schemeClr val="dk1"/>
                </a:solidFill>
                <a:latin typeface="Calibri"/>
                <a:ea typeface="Calibri"/>
                <a:cs typeface="Calibri"/>
                <a:sym typeface="Calibri"/>
              </a:rPr>
              <a:t>INTRODUCTION</a:t>
            </a:r>
            <a:endParaRPr/>
          </a:p>
        </p:txBody>
      </p:sp>
      <p:sp>
        <p:nvSpPr>
          <p:cNvPr id="167" name="Google Shape;167;p26"/>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p>
            <a:pPr algn="l"/>
            <a:r>
              <a:rPr lang="en-IN" sz="2000" b="0" i="0" dirty="0">
                <a:effectLst/>
                <a:latin typeface="+mn-lt"/>
              </a:rPr>
              <a:t>Credit card fraud has become increasingly difficult to detect because financial transactions occur at high speed and fraudsters frequently adapt their tactics to evade existing rules. Traditional rule-based systems and static classifiers are limited because they assume transaction </a:t>
            </a:r>
            <a:r>
              <a:rPr lang="en-IN" sz="2000" b="0" i="0" dirty="0" err="1">
                <a:effectLst/>
                <a:latin typeface="+mn-lt"/>
              </a:rPr>
              <a:t>behavior</a:t>
            </a:r>
            <a:r>
              <a:rPr lang="en-IN" sz="2000" b="0" i="0" dirty="0">
                <a:effectLst/>
                <a:latin typeface="+mn-lt"/>
              </a:rPr>
              <a:t> stays stable, which is not true in real-world fraud streams. In practice, both cardholder </a:t>
            </a:r>
            <a:r>
              <a:rPr lang="en-IN" sz="2000" b="0" i="0" dirty="0" err="1">
                <a:effectLst/>
                <a:latin typeface="+mn-lt"/>
              </a:rPr>
              <a:t>behavior</a:t>
            </a:r>
            <a:r>
              <a:rPr lang="en-IN" sz="2000" b="0" i="0" dirty="0">
                <a:effectLst/>
                <a:latin typeface="+mn-lt"/>
              </a:rPr>
              <a:t> and fraud patterns can drift over time, creating a moving target for any detection model.</a:t>
            </a:r>
          </a:p>
          <a:p>
            <a:pPr algn="l"/>
            <a:r>
              <a:rPr lang="en-IN" sz="2000" b="0" i="0" dirty="0">
                <a:effectLst/>
                <a:latin typeface="+mn-lt"/>
              </a:rPr>
              <a:t>Another challenge is that fraud is often relational. A suspicious transaction may not look abnormal by itself, but it may be part of a larger network involving multiple cards, merchants, devices, or repeated patterns of linked activity. Graph-based learning is useful here because it can identify hidden connections and collective anomalies that tabular models cannot see. This is why combining drift adaptation with graph anomaly detection is a strong design choice for your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4400" b="1" i="0" u="none">
                <a:solidFill>
                  <a:schemeClr val="dk1"/>
                </a:solidFill>
                <a:latin typeface="Calibri"/>
                <a:ea typeface="Calibri"/>
                <a:cs typeface="Calibri"/>
                <a:sym typeface="Calibri"/>
              </a:rPr>
              <a:t>PROBLEM STATEMENT</a:t>
            </a:r>
            <a:endParaRPr/>
          </a:p>
        </p:txBody>
      </p:sp>
      <p:sp>
        <p:nvSpPr>
          <p:cNvPr id="173" name="Google Shape;173;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p>
            <a:pPr algn="l"/>
            <a:r>
              <a:rPr lang="en-IN" sz="2000" b="0" i="0" dirty="0">
                <a:effectLst/>
                <a:latin typeface="+mn-lt"/>
              </a:rPr>
              <a:t>The main problem is to detect fraudulent credit card transactions accurately in the presence of </a:t>
            </a:r>
            <a:r>
              <a:rPr lang="en-IN" sz="2000" b="1" i="0" dirty="0">
                <a:effectLst/>
                <a:latin typeface="+mn-lt"/>
              </a:rPr>
              <a:t>class imbalance</a:t>
            </a:r>
            <a:r>
              <a:rPr lang="en-IN" sz="2000" b="0" i="0" dirty="0">
                <a:effectLst/>
                <a:latin typeface="+mn-lt"/>
              </a:rPr>
              <a:t>, </a:t>
            </a:r>
            <a:r>
              <a:rPr lang="en-IN" sz="2000" b="1" i="0" dirty="0">
                <a:effectLst/>
                <a:latin typeface="+mn-lt"/>
              </a:rPr>
              <a:t>concept drift</a:t>
            </a:r>
            <a:r>
              <a:rPr lang="en-IN" sz="2000" b="0" i="0" dirty="0">
                <a:effectLst/>
                <a:latin typeface="+mn-lt"/>
              </a:rPr>
              <a:t>, and </a:t>
            </a:r>
            <a:r>
              <a:rPr lang="en-IN" sz="2000" b="1" i="0" dirty="0">
                <a:effectLst/>
                <a:latin typeface="+mn-lt"/>
              </a:rPr>
              <a:t>network-level fraud structure</a:t>
            </a:r>
            <a:r>
              <a:rPr lang="en-IN" sz="2000" b="0" i="0" dirty="0">
                <a:effectLst/>
                <a:latin typeface="+mn-lt"/>
              </a:rPr>
              <a:t>. In the available dataset, fraudulent transactions are extremely rare compared to genuine ones, so a model may appear accurate while still failing to catch fraud. At the same time, legitimate spending </a:t>
            </a:r>
            <a:r>
              <a:rPr lang="en-IN" sz="2000" b="0" i="0" dirty="0" err="1">
                <a:effectLst/>
                <a:latin typeface="+mn-lt"/>
              </a:rPr>
              <a:t>behavior</a:t>
            </a:r>
            <a:r>
              <a:rPr lang="en-IN" sz="2000" b="0" i="0" dirty="0">
                <a:effectLst/>
                <a:latin typeface="+mn-lt"/>
              </a:rPr>
              <a:t> changes naturally, and fraudsters also update their strategies, which makes static models obsolete over time.</a:t>
            </a:r>
          </a:p>
          <a:p>
            <a:pPr algn="l"/>
            <a:r>
              <a:rPr lang="en-IN" sz="2000" b="0" i="0" dirty="0">
                <a:effectLst/>
                <a:latin typeface="+mn-lt"/>
              </a:rPr>
              <a:t>A second problem is that transaction data alone may not be sufficient, because fraud often emerges through relationships among entities rather than isolated transaction values. Therefore, the project needs a system that can adapt over time and also use graph structure to detect coordinated or anomalous activity. ABD-GAF is designed to solve these two issues together.</a:t>
            </a:r>
          </a:p>
          <a:p>
            <a:br>
              <a:rPr lang="en-IN" sz="1600" dirty="0"/>
            </a:br>
            <a:endParaRPr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8"/>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4400" b="1" i="0" u="none">
                <a:solidFill>
                  <a:schemeClr val="dk1"/>
                </a:solidFill>
                <a:latin typeface="Calibri"/>
                <a:ea typeface="Calibri"/>
                <a:cs typeface="Calibri"/>
                <a:sym typeface="Calibri"/>
              </a:rPr>
              <a:t>OBJECTIVES</a:t>
            </a:r>
            <a:endParaRPr/>
          </a:p>
        </p:txBody>
      </p:sp>
      <p:sp>
        <p:nvSpPr>
          <p:cNvPr id="179" name="Google Shape;179;p28"/>
          <p:cNvSpPr txBox="1">
            <a:spLocks noGrp="1"/>
          </p:cNvSpPr>
          <p:nvPr>
            <p:ph type="body" idx="1"/>
          </p:nvPr>
        </p:nvSpPr>
        <p:spPr>
          <a:xfrm>
            <a:off x="838200" y="1806900"/>
            <a:ext cx="10515600" cy="4351200"/>
          </a:xfrm>
          <a:prstGeom prst="rect">
            <a:avLst/>
          </a:prstGeom>
          <a:noFill/>
          <a:ln>
            <a:noFill/>
          </a:ln>
        </p:spPr>
        <p:txBody>
          <a:bodyPr spcFirstLastPara="1" wrap="square" lIns="91425" tIns="45700" rIns="91425" bIns="45700" anchor="t" anchorCtr="0">
            <a:noAutofit/>
          </a:bodyPr>
          <a:lstStyle/>
          <a:p>
            <a:pPr algn="l"/>
            <a:r>
              <a:rPr lang="en-IN" sz="2000" b="0" i="0" dirty="0">
                <a:effectLst/>
                <a:latin typeface="+mn-lt"/>
              </a:rPr>
              <a:t>The objectives of this project are:</a:t>
            </a:r>
          </a:p>
          <a:p>
            <a:pPr algn="l">
              <a:buFont typeface="Arial" panose="020B0604020202020204" pitchFamily="34" charset="0"/>
              <a:buChar char="•"/>
            </a:pPr>
            <a:r>
              <a:rPr lang="en-IN" sz="2000" b="0" i="0" dirty="0">
                <a:effectLst/>
                <a:latin typeface="+mn-lt"/>
              </a:rPr>
              <a:t>To design an adaptive fraud detection model that can handle changing transaction </a:t>
            </a:r>
            <a:r>
              <a:rPr lang="en-IN" sz="2000" b="0" i="0" dirty="0" err="1">
                <a:effectLst/>
                <a:latin typeface="+mn-lt"/>
              </a:rPr>
              <a:t>behavior</a:t>
            </a:r>
            <a:r>
              <a:rPr lang="en-IN" sz="2000" b="0" i="0" dirty="0">
                <a:effectLst/>
                <a:latin typeface="+mn-lt"/>
              </a:rPr>
              <a:t> over time.</a:t>
            </a:r>
          </a:p>
          <a:p>
            <a:pPr algn="l">
              <a:buFont typeface="Arial" panose="020B0604020202020204" pitchFamily="34" charset="0"/>
              <a:buChar char="•"/>
            </a:pPr>
            <a:r>
              <a:rPr lang="en-IN" sz="2000" b="0" i="0" dirty="0">
                <a:effectLst/>
                <a:latin typeface="+mn-lt"/>
              </a:rPr>
              <a:t>To build a graph-based anomaly detection mechanism that captures relational fraud patterns.</a:t>
            </a:r>
          </a:p>
          <a:p>
            <a:pPr algn="l">
              <a:buFont typeface="Arial" panose="020B0604020202020204" pitchFamily="34" charset="0"/>
              <a:buChar char="•"/>
            </a:pPr>
            <a:r>
              <a:rPr lang="en-IN" sz="2000" b="0" i="0" dirty="0">
                <a:effectLst/>
                <a:latin typeface="+mn-lt"/>
              </a:rPr>
              <a:t>To fuse </a:t>
            </a:r>
            <a:r>
              <a:rPr lang="en-IN" sz="2000" b="0" i="0" dirty="0" err="1">
                <a:effectLst/>
                <a:latin typeface="+mn-lt"/>
              </a:rPr>
              <a:t>behavioral</a:t>
            </a:r>
            <a:r>
              <a:rPr lang="en-IN" sz="2000" b="0" i="0" dirty="0">
                <a:effectLst/>
                <a:latin typeface="+mn-lt"/>
              </a:rPr>
              <a:t> drift and graph anomaly signals into a unified fraud score.</a:t>
            </a:r>
          </a:p>
          <a:p>
            <a:pPr algn="l">
              <a:buFont typeface="Arial" panose="020B0604020202020204" pitchFamily="34" charset="0"/>
              <a:buChar char="•"/>
            </a:pPr>
            <a:r>
              <a:rPr lang="en-IN" sz="2000" b="0" i="0" dirty="0">
                <a:effectLst/>
                <a:latin typeface="+mn-lt"/>
              </a:rPr>
              <a:t>To evaluate the model using fraud-sensitive metrics such as precision, recall, F1-score, and AUC-ROC.</a:t>
            </a:r>
          </a:p>
          <a:p>
            <a:pPr algn="l">
              <a:buFont typeface="Arial" panose="020B0604020202020204" pitchFamily="34" charset="0"/>
              <a:buChar char="•"/>
            </a:pPr>
            <a:r>
              <a:rPr lang="en-IN" sz="2000" b="0" i="0" dirty="0">
                <a:effectLst/>
                <a:latin typeface="+mn-lt"/>
              </a:rPr>
              <a:t>To compare the proposed approach with standard baselines such as Random Forest, </a:t>
            </a:r>
            <a:r>
              <a:rPr lang="en-IN" sz="2000" b="0" i="0" dirty="0" err="1">
                <a:effectLst/>
                <a:latin typeface="+mn-lt"/>
              </a:rPr>
              <a:t>XGBoost</a:t>
            </a:r>
            <a:r>
              <a:rPr lang="en-IN" sz="2000" b="0" i="0" dirty="0">
                <a:effectLst/>
                <a:latin typeface="+mn-lt"/>
              </a:rPr>
              <a:t>, and LSTM.</a:t>
            </a:r>
          </a:p>
          <a:p>
            <a:pPr algn="l">
              <a:buFont typeface="Arial" panose="020B0604020202020204" pitchFamily="34" charset="0"/>
              <a:buChar char="•"/>
            </a:pPr>
            <a:r>
              <a:rPr lang="en-IN" sz="2000" b="0" i="0" dirty="0">
                <a:effectLst/>
                <a:latin typeface="+mn-lt"/>
              </a:rPr>
              <a:t>To make the approach suitable for near real-time or streaming fraud detection.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9"/>
          <p:cNvSpPr txBox="1">
            <a:spLocks noGrp="1"/>
          </p:cNvSpPr>
          <p:nvPr>
            <p:ph type="title"/>
          </p:nvPr>
        </p:nvSpPr>
        <p:spPr>
          <a:xfrm>
            <a:off x="838200" y="365125"/>
            <a:ext cx="10515600" cy="6270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000"/>
              <a:buFont typeface="Calibri"/>
              <a:buNone/>
            </a:pPr>
            <a:r>
              <a:rPr lang="en-US" sz="4000" b="1" i="0" u="none">
                <a:solidFill>
                  <a:schemeClr val="dk1"/>
                </a:solidFill>
                <a:latin typeface="Calibri"/>
                <a:ea typeface="Calibri"/>
                <a:cs typeface="Calibri"/>
                <a:sym typeface="Calibri"/>
              </a:rPr>
              <a:t>Literature Survey</a:t>
            </a:r>
            <a:endParaRPr/>
          </a:p>
        </p:txBody>
      </p:sp>
      <p:graphicFrame>
        <p:nvGraphicFramePr>
          <p:cNvPr id="185" name="Google Shape;185;p29"/>
          <p:cNvGraphicFramePr/>
          <p:nvPr>
            <p:extLst>
              <p:ext uri="{D42A27DB-BD31-4B8C-83A1-F6EECF244321}">
                <p14:modId xmlns:p14="http://schemas.microsoft.com/office/powerpoint/2010/main" val="3257575134"/>
              </p:ext>
            </p:extLst>
          </p:nvPr>
        </p:nvGraphicFramePr>
        <p:xfrm>
          <a:off x="838200" y="1161075"/>
          <a:ext cx="10860050" cy="5562925"/>
        </p:xfrm>
        <a:graphic>
          <a:graphicData uri="http://schemas.openxmlformats.org/drawingml/2006/table">
            <a:tbl>
              <a:tblPr>
                <a:noFill/>
                <a:tableStyleId>{C12DB9A3-42EF-4790-A23E-B927010BC056}</a:tableStyleId>
              </a:tblPr>
              <a:tblGrid>
                <a:gridCol w="833846">
                  <a:extLst>
                    <a:ext uri="{9D8B030D-6E8A-4147-A177-3AD203B41FA5}">
                      <a16:colId xmlns:a16="http://schemas.microsoft.com/office/drawing/2014/main" val="20000"/>
                    </a:ext>
                  </a:extLst>
                </a:gridCol>
                <a:gridCol w="2246811">
                  <a:extLst>
                    <a:ext uri="{9D8B030D-6E8A-4147-A177-3AD203B41FA5}">
                      <a16:colId xmlns:a16="http://schemas.microsoft.com/office/drawing/2014/main" val="20001"/>
                    </a:ext>
                  </a:extLst>
                </a:gridCol>
                <a:gridCol w="2348568">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1946391">
                  <a:extLst>
                    <a:ext uri="{9D8B030D-6E8A-4147-A177-3AD203B41FA5}">
                      <a16:colId xmlns:a16="http://schemas.microsoft.com/office/drawing/2014/main" val="20004"/>
                    </a:ext>
                  </a:extLst>
                </a:gridCol>
                <a:gridCol w="1674684">
                  <a:extLst>
                    <a:ext uri="{9D8B030D-6E8A-4147-A177-3AD203B41FA5}">
                      <a16:colId xmlns:a16="http://schemas.microsoft.com/office/drawing/2014/main" val="20005"/>
                    </a:ext>
                  </a:extLst>
                </a:gridCol>
              </a:tblGrid>
              <a:tr h="557200">
                <a:tc>
                  <a:txBody>
                    <a:bodyPr/>
                    <a:lstStyle/>
                    <a:p>
                      <a:pPr marL="0" marR="0" lvl="0" indent="0" algn="ctr" rtl="0">
                        <a:lnSpc>
                          <a:spcPct val="100000"/>
                        </a:lnSpc>
                        <a:spcBef>
                          <a:spcPts val="0"/>
                        </a:spcBef>
                        <a:spcAft>
                          <a:spcPts val="0"/>
                        </a:spcAft>
                        <a:buClr>
                          <a:srgbClr val="FFFFFF"/>
                        </a:buClr>
                        <a:buSzPts val="2000"/>
                        <a:buFont typeface="Calibri"/>
                        <a:buNone/>
                      </a:pPr>
                      <a:r>
                        <a:rPr lang="en-US" sz="2000" b="1" i="0" u="none" strike="noStrike" cap="none" dirty="0" err="1">
                          <a:solidFill>
                            <a:srgbClr val="FFFFFF"/>
                          </a:solidFill>
                          <a:latin typeface="Calibri"/>
                          <a:ea typeface="Calibri"/>
                          <a:cs typeface="Calibri"/>
                          <a:sym typeface="Calibri"/>
                        </a:rPr>
                        <a:t>Sl</a:t>
                      </a:r>
                      <a:r>
                        <a:rPr lang="en-US" sz="2000" b="1" i="0" u="none" strike="noStrike" cap="none" dirty="0">
                          <a:solidFill>
                            <a:srgbClr val="FFFFFF"/>
                          </a:solidFill>
                          <a:latin typeface="Calibri"/>
                          <a:ea typeface="Calibri"/>
                          <a:cs typeface="Calibri"/>
                          <a:sym typeface="Calibri"/>
                        </a:rPr>
                        <a:t> No.</a:t>
                      </a:r>
                      <a:endParaRPr dirty="0"/>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Title, Year of Publication</a:t>
                      </a:r>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Methodology</a:t>
                      </a:r>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Dataset Details</a:t>
                      </a:r>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Dis-Advantages</a:t>
                      </a:r>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Accuracy</a:t>
                      </a:r>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1111250">
                <a:tc>
                  <a:txBody>
                    <a:bodyPr/>
                    <a:lstStyle/>
                    <a:p>
                      <a:pPr marL="0" marR="0" lvl="0" indent="0" algn="ctr" rtl="0">
                        <a:spcBef>
                          <a:spcPts val="0"/>
                        </a:spcBef>
                        <a:spcAft>
                          <a:spcPts val="0"/>
                        </a:spcAft>
                        <a:buNone/>
                      </a:pPr>
                      <a:r>
                        <a:rPr lang="en-US" sz="1200" dirty="0">
                          <a:solidFill>
                            <a:schemeClr val="dk1"/>
                          </a:solidFill>
                          <a:latin typeface="+mn-lt"/>
                          <a:ea typeface="Calibri"/>
                          <a:cs typeface="Calibri"/>
                          <a:sym typeface="Calibri"/>
                        </a:rPr>
                        <a:t>1</a:t>
                      </a:r>
                      <a:endParaRPr sz="1200" dirty="0">
                        <a:solidFill>
                          <a:schemeClr val="dk1"/>
                        </a:solidFill>
                        <a:latin typeface="+mn-lt"/>
                        <a:ea typeface="Calibri"/>
                        <a:cs typeface="Calibri"/>
                        <a:sym typeface="Calibri"/>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5EA"/>
                    </a:solidFill>
                  </a:tcPr>
                </a:tc>
                <a:tc>
                  <a:txBody>
                    <a:bodyPr/>
                    <a:lstStyle/>
                    <a:p>
                      <a:pPr marL="0" marR="0" lvl="0" indent="0" algn="l" rtl="0">
                        <a:spcBef>
                          <a:spcPts val="0"/>
                        </a:spcBef>
                        <a:spcAft>
                          <a:spcPts val="0"/>
                        </a:spcAft>
                        <a:buNone/>
                      </a:pPr>
                      <a:r>
                        <a:rPr lang="en-IN" sz="1200" b="1" i="0" u="none" strike="noStrike" cap="none" dirty="0">
                          <a:solidFill>
                            <a:srgbClr val="000000"/>
                          </a:solidFill>
                          <a:effectLst/>
                          <a:latin typeface="+mn-lt"/>
                          <a:ea typeface="Arial"/>
                          <a:cs typeface="Arial"/>
                          <a:sym typeface="Arial"/>
                        </a:rPr>
                        <a:t>Credit Card Fraud Detection and Concept-Drift Adaptation with Delayed Supervised Information-</a:t>
                      </a:r>
                      <a:r>
                        <a:rPr lang="en-IN" sz="1200" b="0" i="0" u="none" strike="noStrike" cap="none" dirty="0">
                          <a:solidFill>
                            <a:srgbClr val="000000"/>
                          </a:solidFill>
                          <a:effectLst/>
                          <a:latin typeface="+mn-lt"/>
                          <a:ea typeface="Arial"/>
                          <a:cs typeface="Arial"/>
                          <a:sym typeface="Arial"/>
                        </a:rPr>
                        <a:t>2013</a:t>
                      </a:r>
                      <a:endParaRPr sz="1200" dirty="0">
                        <a:solidFill>
                          <a:schemeClr val="dk1"/>
                        </a:solidFill>
                        <a:latin typeface="+mn-lt"/>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tc>
                  <a:txBody>
                    <a:bodyPr/>
                    <a:lstStyle/>
                    <a:p>
                      <a:pPr marL="0" marR="0" lvl="0" indent="0" algn="l" rtl="0">
                        <a:spcBef>
                          <a:spcPts val="0"/>
                        </a:spcBef>
                        <a:spcAft>
                          <a:spcPts val="0"/>
                        </a:spcAft>
                        <a:buNone/>
                      </a:pPr>
                      <a:r>
                        <a:rPr lang="en-IN" sz="1200" b="0" i="0" u="none" strike="noStrike" cap="none" dirty="0">
                          <a:solidFill>
                            <a:srgbClr val="000000"/>
                          </a:solidFill>
                          <a:effectLst/>
                          <a:latin typeface="+mn-lt"/>
                          <a:ea typeface="Arial"/>
                          <a:cs typeface="Arial"/>
                          <a:sym typeface="Arial"/>
                        </a:rPr>
                        <a:t>Used a sliding-window and ensemble-based fraud detection strategy to handle delayed labels and concept drift in transaction streams. </a:t>
                      </a:r>
                      <a:endParaRPr sz="1200" dirty="0">
                        <a:solidFill>
                          <a:schemeClr val="dk1"/>
                        </a:solidFill>
                        <a:latin typeface="+mn-lt"/>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tc>
                  <a:txBody>
                    <a:bodyPr/>
                    <a:lstStyle/>
                    <a:p>
                      <a:pPr marL="0" marR="0" lvl="0" indent="0" algn="l" rtl="0">
                        <a:spcBef>
                          <a:spcPts val="0"/>
                        </a:spcBef>
                        <a:spcAft>
                          <a:spcPts val="0"/>
                        </a:spcAft>
                        <a:buNone/>
                      </a:pPr>
                      <a:r>
                        <a:rPr lang="en-IN" sz="1200" b="0" i="0" u="none" strike="noStrike" cap="none" dirty="0">
                          <a:solidFill>
                            <a:srgbClr val="000000"/>
                          </a:solidFill>
                          <a:effectLst/>
                          <a:latin typeface="+mn-lt"/>
                          <a:ea typeface="Arial"/>
                          <a:cs typeface="Arial"/>
                          <a:sym typeface="Arial"/>
                        </a:rPr>
                        <a:t>Real-world credit card transaction stream; labels were delayed because investigator feedback arrived later than transaction time.</a:t>
                      </a:r>
                      <a:endParaRPr sz="1200" dirty="0">
                        <a:solidFill>
                          <a:schemeClr val="dk1"/>
                        </a:solidFill>
                        <a:latin typeface="+mn-lt"/>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tc>
                  <a:txBody>
                    <a:bodyPr/>
                    <a:lstStyle/>
                    <a:p>
                      <a:pPr marL="0" marR="0" lvl="0" indent="0" algn="l" rtl="0">
                        <a:spcBef>
                          <a:spcPts val="0"/>
                        </a:spcBef>
                        <a:spcAft>
                          <a:spcPts val="0"/>
                        </a:spcAft>
                        <a:buNone/>
                      </a:pPr>
                      <a:r>
                        <a:rPr lang="en-IN" sz="1200" b="0" i="0" u="none" strike="noStrike" cap="none" dirty="0">
                          <a:solidFill>
                            <a:srgbClr val="000000"/>
                          </a:solidFill>
                          <a:effectLst/>
                          <a:latin typeface="+mn-lt"/>
                          <a:ea typeface="Arial"/>
                          <a:cs typeface="Arial"/>
                          <a:sym typeface="Arial"/>
                        </a:rPr>
                        <a:t>Requires handling delayed supervision carefully; static models become outdated when </a:t>
                      </a:r>
                      <a:r>
                        <a:rPr lang="en-IN" sz="1200" b="0" i="0" u="none" strike="noStrike" cap="none" dirty="0" err="1">
                          <a:solidFill>
                            <a:srgbClr val="000000"/>
                          </a:solidFill>
                          <a:effectLst/>
                          <a:latin typeface="+mn-lt"/>
                          <a:ea typeface="Arial"/>
                          <a:cs typeface="Arial"/>
                          <a:sym typeface="Arial"/>
                        </a:rPr>
                        <a:t>behavior</a:t>
                      </a:r>
                      <a:r>
                        <a:rPr lang="en-IN" sz="1200" b="0" i="0" u="none" strike="noStrike" cap="none" dirty="0">
                          <a:solidFill>
                            <a:srgbClr val="000000"/>
                          </a:solidFill>
                          <a:effectLst/>
                          <a:latin typeface="+mn-lt"/>
                          <a:ea typeface="Arial"/>
                          <a:cs typeface="Arial"/>
                          <a:sym typeface="Arial"/>
                        </a:rPr>
                        <a:t> drifts. </a:t>
                      </a:r>
                      <a:endParaRPr sz="1200" dirty="0">
                        <a:solidFill>
                          <a:schemeClr val="dk1"/>
                        </a:solidFill>
                        <a:latin typeface="+mn-lt"/>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tc>
                  <a:txBody>
                    <a:bodyPr/>
                    <a:lstStyle/>
                    <a:p>
                      <a:pPr marL="0" marR="0" lvl="0" indent="0" algn="l" rtl="0">
                        <a:spcBef>
                          <a:spcPts val="0"/>
                        </a:spcBef>
                        <a:spcAft>
                          <a:spcPts val="0"/>
                        </a:spcAft>
                        <a:buNone/>
                      </a:pPr>
                      <a:r>
                        <a:rPr lang="en-IN" sz="1200" b="0" i="0" u="none" strike="noStrike" cap="none" dirty="0">
                          <a:solidFill>
                            <a:srgbClr val="000000"/>
                          </a:solidFill>
                          <a:effectLst/>
                          <a:latin typeface="+mn-lt"/>
                          <a:ea typeface="Arial"/>
                          <a:cs typeface="Arial"/>
                          <a:sym typeface="Arial"/>
                        </a:rPr>
                        <a:t>Reported improved alert precision; the abstract emphasizes substantial precision gain, but the exact accuracy value is not given in the snippet. </a:t>
                      </a:r>
                      <a:endParaRPr sz="1200" dirty="0">
                        <a:solidFill>
                          <a:schemeClr val="dk1"/>
                        </a:solidFill>
                        <a:latin typeface="+mn-lt"/>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extLst>
                  <a:ext uri="{0D108BD9-81ED-4DB2-BD59-A6C34878D82A}">
                    <a16:rowId xmlns:a16="http://schemas.microsoft.com/office/drawing/2014/main" val="10001"/>
                  </a:ext>
                </a:extLst>
              </a:tr>
              <a:tr h="1114483">
                <a:tc>
                  <a:txBody>
                    <a:bodyPr/>
                    <a:lstStyle/>
                    <a:p>
                      <a:pPr marL="0" marR="0" lvl="0" indent="0" algn="ctr" rtl="0">
                        <a:spcBef>
                          <a:spcPts val="0"/>
                        </a:spcBef>
                        <a:spcAft>
                          <a:spcPts val="0"/>
                        </a:spcAft>
                        <a:buNone/>
                      </a:pPr>
                      <a:r>
                        <a:rPr lang="en-US" sz="1200">
                          <a:solidFill>
                            <a:schemeClr val="dk1"/>
                          </a:solidFill>
                          <a:latin typeface="+mn-lt"/>
                          <a:ea typeface="Calibri"/>
                          <a:cs typeface="Calibri"/>
                          <a:sym typeface="Calibri"/>
                        </a:rPr>
                        <a:t>2</a:t>
                      </a:r>
                      <a:endParaRPr sz="1200">
                        <a:solidFill>
                          <a:schemeClr val="dk1"/>
                        </a:solidFill>
                        <a:latin typeface="+mn-lt"/>
                        <a:ea typeface="Calibri"/>
                        <a:cs typeface="Calibri"/>
                        <a:sym typeface="Calibri"/>
                      </a:endParaRPr>
                    </a:p>
                  </a:txBody>
                  <a:tcPr marL="91450" marR="91450"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b="1" dirty="0">
                          <a:effectLst/>
                          <a:latin typeface="+mn-lt"/>
                        </a:rPr>
                        <a:t>An Adaptive Approach on Credit Card Fraud Detection-2020</a:t>
                      </a:r>
                      <a:endParaRPr lang="en-IN" sz="1200" dirty="0">
                        <a:effectLst/>
                        <a:latin typeface="+mn-lt"/>
                      </a:endParaRPr>
                    </a:p>
                  </a:txBody>
                  <a:tcPr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BF5"/>
                    </a:solidFill>
                  </a:tcPr>
                </a:tc>
                <a:tc>
                  <a:txBody>
                    <a:bodyPr/>
                    <a:lstStyle/>
                    <a:p>
                      <a:pPr fontAlgn="base" latinLnBrk="0"/>
                      <a:r>
                        <a:rPr lang="en-IN" sz="1200" dirty="0">
                          <a:effectLst/>
                          <a:latin typeface="+mn-lt"/>
                        </a:rPr>
                        <a:t>Proposed an adaptive fraud detection method to improve handling of evolving transaction patterns over time.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BF5"/>
                    </a:solidFill>
                  </a:tcPr>
                </a:tc>
                <a:tc>
                  <a:txBody>
                    <a:bodyPr/>
                    <a:lstStyle/>
                    <a:p>
                      <a:pPr fontAlgn="base" latinLnBrk="0"/>
                      <a:r>
                        <a:rPr lang="en-IN" sz="1200">
                          <a:effectLst/>
                          <a:latin typeface="+mn-lt"/>
                        </a:rPr>
                        <a:t>Used credit card transaction data from the fraud-detection domain; the paper focuses on adapting to changing patterns.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BF5"/>
                    </a:solidFill>
                  </a:tcPr>
                </a:tc>
                <a:tc>
                  <a:txBody>
                    <a:bodyPr/>
                    <a:lstStyle/>
                    <a:p>
                      <a:pPr fontAlgn="base" latinLnBrk="0"/>
                      <a:r>
                        <a:rPr lang="en-IN" sz="1200">
                          <a:effectLst/>
                          <a:latin typeface="+mn-lt"/>
                        </a:rPr>
                        <a:t>Like most adaptive methods, performance can degrade if concept drift is not tracked correctly or labels are scarce.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BF5"/>
                    </a:solidFill>
                  </a:tcPr>
                </a:tc>
                <a:tc>
                  <a:txBody>
                    <a:bodyPr/>
                    <a:lstStyle/>
                    <a:p>
                      <a:pPr fontAlgn="base" latinLnBrk="0"/>
                      <a:r>
                        <a:rPr lang="en-IN" sz="1200" dirty="0">
                          <a:effectLst/>
                          <a:latin typeface="+mn-lt"/>
                        </a:rPr>
                        <a:t>The snippet does not show a single final accuracy number in the search result.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BF5"/>
                    </a:solidFill>
                  </a:tcPr>
                </a:tc>
                <a:extLst>
                  <a:ext uri="{0D108BD9-81ED-4DB2-BD59-A6C34878D82A}">
                    <a16:rowId xmlns:a16="http://schemas.microsoft.com/office/drawing/2014/main" val="10002"/>
                  </a:ext>
                </a:extLst>
              </a:tr>
              <a:tr h="1111250">
                <a:tc>
                  <a:txBody>
                    <a:bodyPr/>
                    <a:lstStyle/>
                    <a:p>
                      <a:pPr marL="0" marR="0" lvl="0" indent="0" algn="ctr" rtl="0">
                        <a:spcBef>
                          <a:spcPts val="0"/>
                        </a:spcBef>
                        <a:spcAft>
                          <a:spcPts val="0"/>
                        </a:spcAft>
                        <a:buNone/>
                      </a:pPr>
                      <a:r>
                        <a:rPr lang="en-US" sz="1200">
                          <a:solidFill>
                            <a:schemeClr val="dk1"/>
                          </a:solidFill>
                          <a:latin typeface="+mn-lt"/>
                          <a:ea typeface="Calibri"/>
                          <a:cs typeface="Calibri"/>
                          <a:sym typeface="Calibri"/>
                        </a:rPr>
                        <a:t>3</a:t>
                      </a:r>
                      <a:endParaRPr sz="1200">
                        <a:solidFill>
                          <a:schemeClr val="dk1"/>
                        </a:solidFill>
                        <a:latin typeface="+mn-lt"/>
                        <a:ea typeface="Calibri"/>
                        <a:cs typeface="Calibri"/>
                        <a:sym typeface="Calibri"/>
                      </a:endParaRPr>
                    </a:p>
                  </a:txBody>
                  <a:tcPr marL="91450" marR="91450"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5EA"/>
                    </a:solidFill>
                  </a:tcPr>
                </a:tc>
                <a:tc>
                  <a:txBody>
                    <a:bodyPr/>
                    <a:lstStyle/>
                    <a:p>
                      <a:pPr fontAlgn="base" latinLnBrk="0"/>
                      <a:r>
                        <a:rPr lang="en-IN" sz="1200" b="1" dirty="0">
                          <a:effectLst/>
                          <a:latin typeface="+mn-lt"/>
                        </a:rPr>
                        <a:t>Improving Fraud Detection and Concept Drift Adaptation in Credit Card Transactions Using Incremental Gradient Boosting Trees-2020</a:t>
                      </a:r>
                      <a:endParaRPr lang="en-IN" sz="1200" dirty="0">
                        <a:effectLst/>
                        <a:latin typeface="+mn-lt"/>
                      </a:endParaRPr>
                    </a:p>
                  </a:txBody>
                  <a:tcPr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tc>
                  <a:txBody>
                    <a:bodyPr/>
                    <a:lstStyle/>
                    <a:p>
                      <a:pPr fontAlgn="base" latinLnBrk="0"/>
                      <a:r>
                        <a:rPr lang="en-IN" sz="1200" dirty="0">
                          <a:effectLst/>
                          <a:latin typeface="+mn-lt"/>
                        </a:rPr>
                        <a:t>Used card-based incremental Gradient Boosting Trees to adapt to drift while reducing catastrophic forgetting.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tc>
                  <a:txBody>
                    <a:bodyPr/>
                    <a:lstStyle/>
                    <a:p>
                      <a:pPr fontAlgn="base" latinLnBrk="0"/>
                      <a:r>
                        <a:rPr lang="en-IN" sz="1200" dirty="0">
                          <a:effectLst/>
                          <a:latin typeface="+mn-lt"/>
                        </a:rPr>
                        <a:t>Real transaction data over 4 months, from December 2019 to March 2020.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tc>
                  <a:txBody>
                    <a:bodyPr/>
                    <a:lstStyle/>
                    <a:p>
                      <a:pPr fontAlgn="base" latinLnBrk="0"/>
                      <a:r>
                        <a:rPr lang="en-IN" sz="1200" dirty="0">
                          <a:effectLst/>
                          <a:latin typeface="+mn-lt"/>
                        </a:rPr>
                        <a:t>Transaction-based incremental learning may cause catastrophic forgetting; adaptation needs periodic updates.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tc>
                  <a:txBody>
                    <a:bodyPr/>
                    <a:lstStyle/>
                    <a:p>
                      <a:pPr fontAlgn="base" latinLnBrk="0"/>
                      <a:r>
                        <a:rPr lang="en-IN" sz="1200" dirty="0">
                          <a:effectLst/>
                          <a:latin typeface="+mn-lt"/>
                        </a:rPr>
                        <a:t>The snippet says performance improved in all months, but no exact accuracy value is visible in the result.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extLst>
                  <a:ext uri="{0D108BD9-81ED-4DB2-BD59-A6C34878D82A}">
                    <a16:rowId xmlns:a16="http://schemas.microsoft.com/office/drawing/2014/main" val="10003"/>
                  </a:ext>
                </a:extLst>
              </a:tr>
              <a:tr h="1112825">
                <a:tc>
                  <a:txBody>
                    <a:bodyPr/>
                    <a:lstStyle/>
                    <a:p>
                      <a:pPr marL="0" marR="0" lvl="0" indent="0" algn="ctr" rtl="0">
                        <a:spcBef>
                          <a:spcPts val="0"/>
                        </a:spcBef>
                        <a:spcAft>
                          <a:spcPts val="0"/>
                        </a:spcAft>
                        <a:buNone/>
                      </a:pPr>
                      <a:r>
                        <a:rPr lang="en-US" sz="1200">
                          <a:solidFill>
                            <a:schemeClr val="dk1"/>
                          </a:solidFill>
                          <a:latin typeface="+mn-lt"/>
                          <a:ea typeface="Calibri"/>
                          <a:cs typeface="Calibri"/>
                          <a:sym typeface="Calibri"/>
                        </a:rPr>
                        <a:t>4</a:t>
                      </a:r>
                      <a:endParaRPr sz="1200">
                        <a:solidFill>
                          <a:schemeClr val="dk1"/>
                        </a:solidFill>
                        <a:latin typeface="+mn-lt"/>
                        <a:ea typeface="Calibri"/>
                        <a:cs typeface="Calibri"/>
                        <a:sym typeface="Calibri"/>
                      </a:endParaRPr>
                    </a:p>
                  </a:txBody>
                  <a:tcPr marL="91450" marR="91450"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b="1" dirty="0">
                          <a:effectLst/>
                          <a:latin typeface="+mn-lt"/>
                        </a:rPr>
                        <a:t>Quick survey of graph-based fraud detection methods-2019</a:t>
                      </a:r>
                      <a:endParaRPr lang="en-IN" sz="1200" dirty="0">
                        <a:effectLst/>
                        <a:latin typeface="+mn-lt"/>
                      </a:endParaRPr>
                    </a:p>
                  </a:txBody>
                  <a:tcPr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a:effectLst/>
                          <a:latin typeface="+mn-lt"/>
                        </a:rPr>
                        <a:t>Survey of graph-based anomaly detection methods using graph structure plus contextual attributes for fraud detection.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a:effectLst/>
                          <a:latin typeface="+mn-lt"/>
                        </a:rPr>
                        <a:t>Survey paper, so it does not use one single dataset; it reviews financial, social, and network fraud settings.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dirty="0">
                          <a:effectLst/>
                          <a:latin typeface="+mn-lt"/>
                        </a:rPr>
                        <a:t>Graph methods can be computationally heavy and may struggle with scalability on large dynamic graphs.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dirty="0">
                          <a:effectLst/>
                          <a:latin typeface="+mn-lt"/>
                        </a:rPr>
                        <a:t>Not an experimental paper, so no accuracy value is reported.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graphicFrame>
        <p:nvGraphicFramePr>
          <p:cNvPr id="191" name="Google Shape;191;p30"/>
          <p:cNvGraphicFramePr/>
          <p:nvPr>
            <p:extLst>
              <p:ext uri="{D42A27DB-BD31-4B8C-83A1-F6EECF244321}">
                <p14:modId xmlns:p14="http://schemas.microsoft.com/office/powerpoint/2010/main" val="1584530980"/>
              </p:ext>
            </p:extLst>
          </p:nvPr>
        </p:nvGraphicFramePr>
        <p:xfrm>
          <a:off x="470262" y="121910"/>
          <a:ext cx="11068595" cy="6736090"/>
        </p:xfrm>
        <a:graphic>
          <a:graphicData uri="http://schemas.openxmlformats.org/drawingml/2006/table">
            <a:tbl>
              <a:tblPr>
                <a:noFill/>
                <a:tableStyleId>{C12DB9A3-42EF-4790-A23E-B927010BC056}</a:tableStyleId>
              </a:tblPr>
              <a:tblGrid>
                <a:gridCol w="823998">
                  <a:extLst>
                    <a:ext uri="{9D8B030D-6E8A-4147-A177-3AD203B41FA5}">
                      <a16:colId xmlns:a16="http://schemas.microsoft.com/office/drawing/2014/main" val="1210285524"/>
                    </a:ext>
                  </a:extLst>
                </a:gridCol>
                <a:gridCol w="3323157">
                  <a:extLst>
                    <a:ext uri="{9D8B030D-6E8A-4147-A177-3AD203B41FA5}">
                      <a16:colId xmlns:a16="http://schemas.microsoft.com/office/drawing/2014/main" val="20000"/>
                    </a:ext>
                  </a:extLst>
                </a:gridCol>
                <a:gridCol w="2281841">
                  <a:extLst>
                    <a:ext uri="{9D8B030D-6E8A-4147-A177-3AD203B41FA5}">
                      <a16:colId xmlns:a16="http://schemas.microsoft.com/office/drawing/2014/main" val="20002"/>
                    </a:ext>
                  </a:extLst>
                </a:gridCol>
                <a:gridCol w="1566502">
                  <a:extLst>
                    <a:ext uri="{9D8B030D-6E8A-4147-A177-3AD203B41FA5}">
                      <a16:colId xmlns:a16="http://schemas.microsoft.com/office/drawing/2014/main" val="20003"/>
                    </a:ext>
                  </a:extLst>
                </a:gridCol>
                <a:gridCol w="1584612">
                  <a:extLst>
                    <a:ext uri="{9D8B030D-6E8A-4147-A177-3AD203B41FA5}">
                      <a16:colId xmlns:a16="http://schemas.microsoft.com/office/drawing/2014/main" val="20004"/>
                    </a:ext>
                  </a:extLst>
                </a:gridCol>
                <a:gridCol w="1488485">
                  <a:extLst>
                    <a:ext uri="{9D8B030D-6E8A-4147-A177-3AD203B41FA5}">
                      <a16:colId xmlns:a16="http://schemas.microsoft.com/office/drawing/2014/main" val="20005"/>
                    </a:ext>
                  </a:extLst>
                </a:gridCol>
              </a:tblGrid>
              <a:tr h="586042">
                <a:tc>
                  <a:txBody>
                    <a:bodyPr/>
                    <a:lstStyle/>
                    <a:p>
                      <a:pPr marL="0" marR="0" lvl="0" indent="0" algn="ctr" rtl="0">
                        <a:lnSpc>
                          <a:spcPct val="100000"/>
                        </a:lnSpc>
                        <a:spcBef>
                          <a:spcPts val="0"/>
                        </a:spcBef>
                        <a:spcAft>
                          <a:spcPts val="0"/>
                        </a:spcAft>
                        <a:buClr>
                          <a:srgbClr val="FFFFFF"/>
                        </a:buClr>
                        <a:buSzPts val="2000"/>
                        <a:buFont typeface="Calibri"/>
                        <a:buNone/>
                      </a:pPr>
                      <a:r>
                        <a:rPr lang="en-US" sz="2000" b="1" i="0" u="none" strike="noStrike" cap="none" dirty="0" err="1">
                          <a:solidFill>
                            <a:srgbClr val="FFFFFF"/>
                          </a:solidFill>
                          <a:latin typeface="Calibri"/>
                          <a:cs typeface="Calibri"/>
                          <a:sym typeface="Arial"/>
                        </a:rPr>
                        <a:t>S.no</a:t>
                      </a:r>
                      <a:endParaRPr lang="en-US" sz="2000" b="1" i="0" u="none" strike="noStrike" cap="none" dirty="0">
                        <a:solidFill>
                          <a:srgbClr val="FFFFFF"/>
                        </a:solidFill>
                        <a:latin typeface="Calibri"/>
                        <a:cs typeface="Calibri"/>
                        <a:sym typeface="Aria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2000"/>
                        <a:buFont typeface="Calibri"/>
                        <a:buNone/>
                      </a:pPr>
                      <a:r>
                        <a:rPr lang="en-US" sz="2000" b="1" i="0" u="none" dirty="0">
                          <a:solidFill>
                            <a:srgbClr val="FFFFFF"/>
                          </a:solidFill>
                          <a:latin typeface="Calibri"/>
                          <a:ea typeface="Calibri"/>
                          <a:cs typeface="Calibri"/>
                          <a:sym typeface="Calibri"/>
                        </a:rPr>
                        <a:t>Title, Year of Publication</a:t>
                      </a:r>
                      <a:endParaRPr lang="en-US" sz="2000" dirty="0"/>
                    </a:p>
                  </a:txBody>
                  <a:tcPr marL="91450" marR="91450" marT="45725" marB="45725"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2000"/>
                        <a:buFont typeface="Calibri"/>
                        <a:buNone/>
                      </a:pPr>
                      <a:r>
                        <a:rPr lang="en-US" sz="2000" b="1" i="0" u="none" dirty="0">
                          <a:solidFill>
                            <a:srgbClr val="FFFFFF"/>
                          </a:solidFill>
                          <a:latin typeface="Calibri"/>
                          <a:ea typeface="Calibri"/>
                          <a:cs typeface="Calibri"/>
                          <a:sym typeface="Calibri"/>
                        </a:rPr>
                        <a:t>Methodology</a:t>
                      </a:r>
                      <a:endParaRPr dirty="0"/>
                    </a:p>
                  </a:txBody>
                  <a:tcPr marL="91450" marR="91450" marT="45725" marB="45725"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2000"/>
                        <a:buFont typeface="Calibri"/>
                        <a:buNone/>
                      </a:pPr>
                      <a:r>
                        <a:rPr lang="en-US" sz="2000" b="1" i="0" u="none">
                          <a:solidFill>
                            <a:srgbClr val="FFFFFF"/>
                          </a:solidFill>
                          <a:latin typeface="Calibri"/>
                          <a:ea typeface="Calibri"/>
                          <a:cs typeface="Calibri"/>
                          <a:sym typeface="Calibri"/>
                        </a:rPr>
                        <a:t>Dataset Details</a:t>
                      </a:r>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2000"/>
                        <a:buFont typeface="Calibri"/>
                        <a:buNone/>
                      </a:pPr>
                      <a:r>
                        <a:rPr lang="en-US" sz="2000" b="1" i="0" u="none" dirty="0">
                          <a:solidFill>
                            <a:srgbClr val="FFFFFF"/>
                          </a:solidFill>
                          <a:latin typeface="Calibri"/>
                          <a:ea typeface="Calibri"/>
                          <a:cs typeface="Calibri"/>
                          <a:sym typeface="Calibri"/>
                        </a:rPr>
                        <a:t>Dis-Advantages</a:t>
                      </a:r>
                      <a:endParaRPr dirty="0"/>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2000"/>
                        <a:buFont typeface="Calibri"/>
                        <a:buNone/>
                      </a:pPr>
                      <a:r>
                        <a:rPr lang="en-US" sz="2000" b="1" i="0" u="none" dirty="0">
                          <a:solidFill>
                            <a:srgbClr val="FFFFFF"/>
                          </a:solidFill>
                          <a:latin typeface="Calibri"/>
                          <a:ea typeface="Calibri"/>
                          <a:cs typeface="Calibri"/>
                          <a:sym typeface="Calibri"/>
                        </a:rPr>
                        <a:t>Accuracy</a:t>
                      </a:r>
                      <a:endParaRPr dirty="0"/>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993708">
                <a:tc>
                  <a:txBody>
                    <a:bodyPr/>
                    <a:lstStyle/>
                    <a:p>
                      <a:pPr algn="ctr" fontAlgn="base" latinLnBrk="0"/>
                      <a:r>
                        <a:rPr lang="en-IN" sz="1200" dirty="0">
                          <a:effectLst/>
                          <a:latin typeface="+mn-lt"/>
                        </a:rPr>
                        <a:t>5</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tc>
                  <a:txBody>
                    <a:bodyPr/>
                    <a:lstStyle/>
                    <a:p>
                      <a:pPr fontAlgn="base" latinLnBrk="0"/>
                      <a:r>
                        <a:rPr lang="en-IN" sz="1200" b="1" dirty="0">
                          <a:effectLst/>
                          <a:latin typeface="+mn-lt"/>
                        </a:rPr>
                        <a:t>Graph based Anomaly Detection and Description: A Survey-2014</a:t>
                      </a:r>
                      <a:endParaRPr lang="en-IN" sz="1200" dirty="0">
                        <a:effectLst/>
                        <a:latin typeface="+mn-lt"/>
                      </a:endParaRP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5EA"/>
                    </a:solidFill>
                  </a:tcPr>
                </a:tc>
                <a:tc>
                  <a:txBody>
                    <a:bodyPr/>
                    <a:lstStyle/>
                    <a:p>
                      <a:pPr fontAlgn="base" latinLnBrk="0"/>
                      <a:r>
                        <a:rPr lang="en-IN" sz="1200" dirty="0">
                          <a:effectLst/>
                          <a:latin typeface="+mn-lt"/>
                        </a:rPr>
                        <a:t>Survey of anomaly detection techniques on graphs, including unsupervised, semi-supervised, and relational approaches. </a:t>
                      </a: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tc>
                  <a:txBody>
                    <a:bodyPr/>
                    <a:lstStyle/>
                    <a:p>
                      <a:pPr fontAlgn="base" latinLnBrk="0"/>
                      <a:r>
                        <a:rPr lang="en-IN" sz="1200" dirty="0">
                          <a:effectLst/>
                          <a:latin typeface="+mn-lt"/>
                        </a:rPr>
                        <a:t>Survey paper, covering many real-world graph domains including finance, security, and accounting.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5EA"/>
                    </a:solidFill>
                  </a:tcPr>
                </a:tc>
                <a:tc>
                  <a:txBody>
                    <a:bodyPr/>
                    <a:lstStyle/>
                    <a:p>
                      <a:pPr fontAlgn="base" latinLnBrk="0"/>
                      <a:r>
                        <a:rPr lang="en-IN" sz="1200" dirty="0">
                          <a:effectLst/>
                          <a:latin typeface="+mn-lt"/>
                        </a:rPr>
                        <a:t>Challenges include scalability, robustness, and generality across different graph types.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5EA"/>
                    </a:solidFill>
                  </a:tcPr>
                </a:tc>
                <a:tc>
                  <a:txBody>
                    <a:bodyPr/>
                    <a:lstStyle/>
                    <a:p>
                      <a:pPr fontAlgn="base" latinLnBrk="0"/>
                      <a:r>
                        <a:rPr lang="en-IN" sz="1200" dirty="0">
                          <a:effectLst/>
                          <a:latin typeface="+mn-lt"/>
                        </a:rPr>
                        <a:t>Not applicable, since this is a survey paper.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5EA"/>
                    </a:solidFill>
                  </a:tcPr>
                </a:tc>
                <a:extLst>
                  <a:ext uri="{0D108BD9-81ED-4DB2-BD59-A6C34878D82A}">
                    <a16:rowId xmlns:a16="http://schemas.microsoft.com/office/drawing/2014/main" val="10001"/>
                  </a:ext>
                </a:extLst>
              </a:tr>
              <a:tr h="1452343">
                <a:tc>
                  <a:txBody>
                    <a:bodyPr/>
                    <a:lstStyle/>
                    <a:p>
                      <a:pPr algn="ctr" fontAlgn="base" latinLnBrk="0"/>
                      <a:r>
                        <a:rPr lang="en-IN" sz="1200" dirty="0">
                          <a:effectLst/>
                          <a:latin typeface="+mn-lt"/>
                        </a:rPr>
                        <a:t>6</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BF5"/>
                    </a:solidFill>
                  </a:tcPr>
                </a:tc>
                <a:tc>
                  <a:txBody>
                    <a:bodyPr/>
                    <a:lstStyle/>
                    <a:p>
                      <a:pPr fontAlgn="base" latinLnBrk="0"/>
                      <a:r>
                        <a:rPr lang="en-IN" sz="1200" b="1" dirty="0">
                          <a:effectLst/>
                          <a:latin typeface="+mn-lt"/>
                        </a:rPr>
                        <a:t>Graph Neural Networks for Financial Fraud Detection: A Review-2024</a:t>
                      </a:r>
                      <a:endParaRPr lang="en-IN" sz="1200" dirty="0">
                        <a:effectLst/>
                        <a:latin typeface="+mn-lt"/>
                      </a:endParaRP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dirty="0">
                          <a:effectLst/>
                          <a:latin typeface="+mn-lt"/>
                        </a:rPr>
                        <a:t>Review of GNN methods for financial fraud detection, focusing on supervised and semi-supervised graph learning. </a:t>
                      </a: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BF5"/>
                    </a:solidFill>
                  </a:tcPr>
                </a:tc>
                <a:tc>
                  <a:txBody>
                    <a:bodyPr/>
                    <a:lstStyle/>
                    <a:p>
                      <a:pPr fontAlgn="base" latinLnBrk="0"/>
                      <a:r>
                        <a:rPr lang="en-IN" sz="1200" dirty="0">
                          <a:effectLst/>
                          <a:latin typeface="+mn-lt"/>
                        </a:rPr>
                        <a:t>Review of over 100 studies, spanning many financial fraud datasets and graph types.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a:effectLst/>
                          <a:latin typeface="+mn-lt"/>
                        </a:rPr>
                        <a:t>Notes that many studies still rely on supervised settings and that unsupervised edge-level and graph-level anomaly detection is underexplored.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a:effectLst/>
                          <a:latin typeface="+mn-lt"/>
                        </a:rPr>
                        <a:t>Review paper, so it does not report a single accuracy value.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extLst>
                  <a:ext uri="{0D108BD9-81ED-4DB2-BD59-A6C34878D82A}">
                    <a16:rowId xmlns:a16="http://schemas.microsoft.com/office/drawing/2014/main" val="10002"/>
                  </a:ext>
                </a:extLst>
              </a:tr>
              <a:tr h="1146587">
                <a:tc>
                  <a:txBody>
                    <a:bodyPr/>
                    <a:lstStyle/>
                    <a:p>
                      <a:pPr algn="ctr" fontAlgn="base" latinLnBrk="0"/>
                      <a:r>
                        <a:rPr lang="en-IN" sz="1200" dirty="0">
                          <a:effectLst/>
                          <a:latin typeface="+mn-lt"/>
                        </a:rPr>
                        <a:t>7</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tc>
                  <a:txBody>
                    <a:bodyPr/>
                    <a:lstStyle/>
                    <a:p>
                      <a:pPr fontAlgn="base" latinLnBrk="0"/>
                      <a:r>
                        <a:rPr lang="en-IN" sz="1200" b="1" dirty="0">
                          <a:effectLst/>
                          <a:latin typeface="+mn-lt"/>
                        </a:rPr>
                        <a:t>Credit card fraud detection based on federated graph learning-2024</a:t>
                      </a:r>
                      <a:endParaRPr lang="en-IN" sz="1200" dirty="0">
                        <a:effectLst/>
                        <a:latin typeface="+mn-lt"/>
                      </a:endParaRP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5EA"/>
                    </a:solidFill>
                  </a:tcPr>
                </a:tc>
                <a:tc>
                  <a:txBody>
                    <a:bodyPr/>
                    <a:lstStyle/>
                    <a:p>
                      <a:pPr fontAlgn="base" latinLnBrk="0"/>
                      <a:r>
                        <a:rPr lang="en-IN" sz="1200" dirty="0">
                          <a:effectLst/>
                          <a:latin typeface="+mn-lt"/>
                        </a:rPr>
                        <a:t>Uses federated graph learning to detect fraud while preserving privacy across data sources. </a:t>
                      </a: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FD5EA"/>
                    </a:solidFill>
                  </a:tcPr>
                </a:tc>
                <a:tc>
                  <a:txBody>
                    <a:bodyPr/>
                    <a:lstStyle/>
                    <a:p>
                      <a:pPr fontAlgn="base" latinLnBrk="0"/>
                      <a:r>
                        <a:rPr lang="en-IN" sz="1200" dirty="0">
                          <a:effectLst/>
                          <a:latin typeface="+mn-lt"/>
                        </a:rPr>
                        <a:t>Financial transaction data in a graph-learning setting; exact dataset details are not visible in the snippet.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5EA"/>
                    </a:solidFill>
                  </a:tcPr>
                </a:tc>
                <a:tc>
                  <a:txBody>
                    <a:bodyPr/>
                    <a:lstStyle/>
                    <a:p>
                      <a:pPr fontAlgn="base" latinLnBrk="0"/>
                      <a:r>
                        <a:rPr lang="en-IN" sz="1200" dirty="0">
                          <a:effectLst/>
                          <a:latin typeface="+mn-lt"/>
                        </a:rPr>
                        <a:t>Privacy-preserving distributed learning can be more complex to train and deploy.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5EA"/>
                    </a:solidFill>
                  </a:tcPr>
                </a:tc>
                <a:tc>
                  <a:txBody>
                    <a:bodyPr/>
                    <a:lstStyle/>
                    <a:p>
                      <a:pPr fontAlgn="base" latinLnBrk="0"/>
                      <a:r>
                        <a:rPr lang="en-IN" sz="1200" dirty="0">
                          <a:effectLst/>
                          <a:latin typeface="+mn-lt"/>
                        </a:rPr>
                        <a:t>The snippet does not show the exact accuracy number.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5EA"/>
                    </a:solidFill>
                  </a:tcPr>
                </a:tc>
                <a:extLst>
                  <a:ext uri="{0D108BD9-81ED-4DB2-BD59-A6C34878D82A}">
                    <a16:rowId xmlns:a16="http://schemas.microsoft.com/office/drawing/2014/main" val="10003"/>
                  </a:ext>
                </a:extLst>
              </a:tr>
              <a:tr h="1605221">
                <a:tc>
                  <a:txBody>
                    <a:bodyPr/>
                    <a:lstStyle/>
                    <a:p>
                      <a:pPr algn="ctr" fontAlgn="base" latinLnBrk="0"/>
                      <a:r>
                        <a:rPr lang="en-IN" sz="1200" dirty="0">
                          <a:effectLst/>
                          <a:latin typeface="+mn-lt"/>
                        </a:rPr>
                        <a:t>8</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b="1" dirty="0">
                          <a:effectLst/>
                          <a:latin typeface="+mn-lt"/>
                        </a:rPr>
                        <a:t>Adapting to Concept Drift in Credit Card Transaction Data Streams Using Contextual Bandits and Decision Rules-2023</a:t>
                      </a:r>
                      <a:endParaRPr lang="en-IN" sz="1200" dirty="0">
                        <a:effectLst/>
                        <a:latin typeface="+mn-lt"/>
                      </a:endParaRP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dirty="0">
                          <a:effectLst/>
                          <a:latin typeface="+mn-lt"/>
                        </a:rPr>
                        <a:t>Uses contextual bandits to balance exploration and exploitation while adapting to concept drift in transaction streams. </a:t>
                      </a: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a:effectLst/>
                          <a:latin typeface="+mn-lt"/>
                        </a:rPr>
                        <a:t>Evaluated on a real dataset and a simulator that injects fraudster behavior drift.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a:effectLst/>
                          <a:latin typeface="+mn-lt"/>
                        </a:rPr>
                        <a:t>Needs a trade-off between investigating suspicious transactions and exploring uncertain ones; can be sensitive to changing drift patterns.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tc>
                  <a:txBody>
                    <a:bodyPr/>
                    <a:lstStyle/>
                    <a:p>
                      <a:pPr fontAlgn="base" latinLnBrk="0"/>
                      <a:r>
                        <a:rPr lang="en-IN" sz="1200" dirty="0">
                          <a:effectLst/>
                          <a:latin typeface="+mn-lt"/>
                        </a:rPr>
                        <a:t>The snippet states it outperforms offline models in cumulative rewards, but no single accuracy value is shown. </a:t>
                      </a:r>
                    </a:p>
                  </a:txBody>
                  <a:tcPr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B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2"/>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4400" b="1" i="0" u="none">
                <a:solidFill>
                  <a:schemeClr val="dk1"/>
                </a:solidFill>
                <a:latin typeface="Calibri"/>
                <a:ea typeface="Calibri"/>
                <a:cs typeface="Calibri"/>
                <a:sym typeface="Calibri"/>
              </a:rPr>
              <a:t>Software and Hardware Requirements</a:t>
            </a:r>
            <a:endParaRPr/>
          </a:p>
        </p:txBody>
      </p:sp>
      <p:graphicFrame>
        <p:nvGraphicFramePr>
          <p:cNvPr id="204" name="Google Shape;204;p32"/>
          <p:cNvGraphicFramePr/>
          <p:nvPr/>
        </p:nvGraphicFramePr>
        <p:xfrm>
          <a:off x="838200" y="1825625"/>
          <a:ext cx="10515600" cy="4519600"/>
        </p:xfrm>
        <a:graphic>
          <a:graphicData uri="http://schemas.openxmlformats.org/drawingml/2006/table">
            <a:tbl>
              <a:tblPr>
                <a:noFill/>
                <a:tableStyleId>{C12DB9A3-42EF-4790-A23E-B927010BC056}</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652450">
                <a:tc>
                  <a:txBody>
                    <a:bodyPr/>
                    <a:lstStyle/>
                    <a:p>
                      <a:pPr marL="0" marR="0" lvl="0" indent="0" algn="ctr" rtl="0">
                        <a:lnSpc>
                          <a:spcPct val="100000"/>
                        </a:lnSpc>
                        <a:spcBef>
                          <a:spcPts val="0"/>
                        </a:spcBef>
                        <a:spcAft>
                          <a:spcPts val="0"/>
                        </a:spcAft>
                        <a:buClr>
                          <a:srgbClr val="FFFFFF"/>
                        </a:buClr>
                        <a:buSzPts val="2800"/>
                        <a:buFont typeface="Calibri"/>
                        <a:buNone/>
                      </a:pPr>
                      <a:r>
                        <a:rPr lang="en-US" sz="2800" b="1" i="0" u="none">
                          <a:solidFill>
                            <a:srgbClr val="FFFFFF"/>
                          </a:solidFill>
                          <a:latin typeface="Calibri"/>
                          <a:ea typeface="Calibri"/>
                          <a:cs typeface="Calibri"/>
                          <a:sym typeface="Calibri"/>
                        </a:rPr>
                        <a:t>SOFTWARE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2800"/>
                        <a:buFont typeface="Calibri"/>
                        <a:buNone/>
                      </a:pPr>
                      <a:r>
                        <a:rPr lang="en-US" sz="2800" b="1" i="0" u="none">
                          <a:solidFill>
                            <a:srgbClr val="FFFFFF"/>
                          </a:solidFill>
                          <a:latin typeface="Calibri"/>
                          <a:ea typeface="Calibri"/>
                          <a:cs typeface="Calibri"/>
                          <a:sym typeface="Calibri"/>
                        </a:rPr>
                        <a:t>HARDWARE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867150">
                <a:tc>
                  <a:txBody>
                    <a:bodyPr/>
                    <a:lstStyle/>
                    <a:p>
                      <a:pPr marL="0" lvl="0" indent="0" algn="l" rtl="0">
                        <a:lnSpc>
                          <a:spcPct val="115000"/>
                        </a:lnSpc>
                        <a:spcBef>
                          <a:spcPts val="0"/>
                        </a:spcBef>
                        <a:spcAft>
                          <a:spcPts val="0"/>
                        </a:spcAft>
                        <a:buClr>
                          <a:schemeClr val="dk1"/>
                        </a:buClr>
                        <a:buSzPts val="1100"/>
                        <a:buFont typeface="Arial"/>
                        <a:buNone/>
                      </a:pPr>
                      <a:r>
                        <a:rPr lang="en-US" b="1">
                          <a:solidFill>
                            <a:schemeClr val="dk1"/>
                          </a:solidFill>
                          <a:latin typeface="Calibri"/>
                          <a:ea typeface="Calibri"/>
                          <a:cs typeface="Calibri"/>
                          <a:sym typeface="Calibri"/>
                        </a:rPr>
                        <a:t>OS:</a:t>
                      </a:r>
                      <a:r>
                        <a:rPr lang="en-US">
                          <a:solidFill>
                            <a:schemeClr val="dk1"/>
                          </a:solidFill>
                          <a:latin typeface="Calibri"/>
                          <a:ea typeface="Calibri"/>
                          <a:cs typeface="Calibri"/>
                          <a:sym typeface="Calibri"/>
                        </a:rPr>
                        <a:t> Linux (Ubuntu 20.04/22.04), Windows 10/11, macOS</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US" b="1">
                          <a:solidFill>
                            <a:schemeClr val="dk1"/>
                          </a:solidFill>
                          <a:latin typeface="Calibri"/>
                          <a:ea typeface="Calibri"/>
                          <a:cs typeface="Calibri"/>
                          <a:sym typeface="Calibri"/>
                        </a:rPr>
                        <a:t>Languages:</a:t>
                      </a:r>
                      <a:r>
                        <a:rPr lang="en-US">
                          <a:solidFill>
                            <a:schemeClr val="dk1"/>
                          </a:solidFill>
                          <a:latin typeface="Calibri"/>
                          <a:ea typeface="Calibri"/>
                          <a:cs typeface="Calibri"/>
                          <a:sym typeface="Calibri"/>
                        </a:rPr>
                        <a:t> Python 3.9+</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US" b="1">
                          <a:solidFill>
                            <a:schemeClr val="dk1"/>
                          </a:solidFill>
                          <a:latin typeface="Calibri"/>
                          <a:ea typeface="Calibri"/>
                          <a:cs typeface="Calibri"/>
                          <a:sym typeface="Calibri"/>
                        </a:rPr>
                        <a:t>Package Manager:</a:t>
                      </a:r>
                      <a:r>
                        <a:rPr lang="en-US">
                          <a:solidFill>
                            <a:schemeClr val="dk1"/>
                          </a:solidFill>
                          <a:latin typeface="Calibri"/>
                          <a:ea typeface="Calibri"/>
                          <a:cs typeface="Calibri"/>
                          <a:sym typeface="Calibri"/>
                        </a:rPr>
                        <a:t> pip / conda</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b="1">
                          <a:solidFill>
                            <a:schemeClr val="dk1"/>
                          </a:solidFill>
                          <a:latin typeface="Calibri"/>
                          <a:ea typeface="Calibri"/>
                          <a:cs typeface="Calibri"/>
                          <a:sym typeface="Calibri"/>
                        </a:rPr>
                        <a:t>Version Control:</a:t>
                      </a:r>
                      <a:r>
                        <a:rPr lang="en-US">
                          <a:solidFill>
                            <a:schemeClr val="dk1"/>
                          </a:solidFill>
                          <a:latin typeface="Calibri"/>
                          <a:ea typeface="Calibri"/>
                          <a:cs typeface="Calibri"/>
                          <a:sym typeface="Calibri"/>
                        </a:rPr>
                        <a:t> Git</a:t>
                      </a:r>
                      <a:br>
                        <a:rPr lang="en-US">
                          <a:solidFill>
                            <a:schemeClr val="dk1"/>
                          </a:solidFill>
                          <a:latin typeface="Calibri"/>
                          <a:ea typeface="Calibri"/>
                          <a:cs typeface="Calibri"/>
                          <a:sym typeface="Calibri"/>
                        </a:rPr>
                      </a:br>
                      <a:br>
                        <a:rPr lang="en-US">
                          <a:solidFill>
                            <a:schemeClr val="dk1"/>
                          </a:solidFill>
                          <a:latin typeface="Calibri"/>
                          <a:ea typeface="Calibri"/>
                          <a:cs typeface="Calibri"/>
                          <a:sym typeface="Calibri"/>
                        </a:rPr>
                      </a:br>
                      <a:r>
                        <a:rPr lang="en-US" b="1">
                          <a:solidFill>
                            <a:schemeClr val="dk1"/>
                          </a:solidFill>
                          <a:latin typeface="Calibri"/>
                          <a:ea typeface="Calibri"/>
                          <a:cs typeface="Calibri"/>
                          <a:sym typeface="Calibri"/>
                        </a:rPr>
                        <a:t>Deep Learning:</a:t>
                      </a:r>
                      <a:r>
                        <a:rPr lang="en-US">
                          <a:solidFill>
                            <a:schemeClr val="dk1"/>
                          </a:solidFill>
                          <a:latin typeface="Calibri"/>
                          <a:ea typeface="Calibri"/>
                          <a:cs typeface="Calibri"/>
                          <a:sym typeface="Calibri"/>
                        </a:rPr>
                        <a:t> PyTorch (preferred), TensorFlow (optional)</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US" b="1">
                          <a:solidFill>
                            <a:schemeClr val="dk1"/>
                          </a:solidFill>
                          <a:latin typeface="Calibri"/>
                          <a:ea typeface="Calibri"/>
                          <a:cs typeface="Calibri"/>
                          <a:sym typeface="Calibri"/>
                        </a:rPr>
                        <a:t>Transformers &amp; Pretrained Models:</a:t>
                      </a:r>
                      <a:r>
                        <a:rPr lang="en-US">
                          <a:solidFill>
                            <a:schemeClr val="dk1"/>
                          </a:solidFill>
                          <a:latin typeface="Calibri"/>
                          <a:ea typeface="Calibri"/>
                          <a:cs typeface="Calibri"/>
                          <a:sym typeface="Calibri"/>
                        </a:rPr>
                        <a:t> Hugging Face transformers, Hugging Face datasets, accelerate</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US" b="1">
                          <a:solidFill>
                            <a:schemeClr val="dk1"/>
                          </a:solidFill>
                          <a:latin typeface="Calibri"/>
                          <a:ea typeface="Calibri"/>
                          <a:cs typeface="Calibri"/>
                          <a:sym typeface="Calibri"/>
                        </a:rPr>
                        <a:t>Evaluation Tools:</a:t>
                      </a:r>
                      <a:r>
                        <a:rPr lang="en-US">
                          <a:solidFill>
                            <a:schemeClr val="dk1"/>
                          </a:solidFill>
                          <a:latin typeface="Calibri"/>
                          <a:ea typeface="Calibri"/>
                          <a:cs typeface="Calibri"/>
                          <a:sym typeface="Calibri"/>
                        </a:rPr>
                        <a:t> CodeBLEU, Hugging Face evaluate, HumanEval/MBPP scripts</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US" b="1">
                          <a:solidFill>
                            <a:schemeClr val="dk1"/>
                          </a:solidFill>
                          <a:latin typeface="Calibri"/>
                          <a:ea typeface="Calibri"/>
                          <a:cs typeface="Calibri"/>
                          <a:sym typeface="Calibri"/>
                        </a:rPr>
                        <a:t>Data Handling:</a:t>
                      </a:r>
                      <a:r>
                        <a:rPr lang="en-US">
                          <a:solidFill>
                            <a:schemeClr val="dk1"/>
                          </a:solidFill>
                          <a:latin typeface="Calibri"/>
                          <a:ea typeface="Calibri"/>
                          <a:cs typeface="Calibri"/>
                          <a:sym typeface="Calibri"/>
                        </a:rPr>
                        <a:t> pandas, numpy</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US" b="1">
                          <a:solidFill>
                            <a:schemeClr val="dk1"/>
                          </a:solidFill>
                          <a:latin typeface="Calibri"/>
                          <a:ea typeface="Calibri"/>
                          <a:cs typeface="Calibri"/>
                          <a:sym typeface="Calibri"/>
                        </a:rPr>
                        <a:t>Experiment Tracking (Optional):</a:t>
                      </a:r>
                      <a:r>
                        <a:rPr lang="en-US">
                          <a:solidFill>
                            <a:schemeClr val="dk1"/>
                          </a:solidFill>
                          <a:latin typeface="Calibri"/>
                          <a:ea typeface="Calibri"/>
                          <a:cs typeface="Calibri"/>
                          <a:sym typeface="Calibri"/>
                        </a:rPr>
                        <a:t> wandb / TensorBoard</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US" b="1">
                          <a:solidFill>
                            <a:schemeClr val="dk1"/>
                          </a:solidFill>
                          <a:latin typeface="Calibri"/>
                          <a:ea typeface="Calibri"/>
                          <a:cs typeface="Calibri"/>
                          <a:sym typeface="Calibri"/>
                        </a:rPr>
                        <a:t>Paper &amp; Reference Management:</a:t>
                      </a:r>
                      <a:r>
                        <a:rPr lang="en-US">
                          <a:solidFill>
                            <a:schemeClr val="dk1"/>
                          </a:solidFill>
                          <a:latin typeface="Calibri"/>
                          <a:ea typeface="Calibri"/>
                          <a:cs typeface="Calibri"/>
                          <a:sym typeface="Calibri"/>
                        </a:rPr>
                        <a:t> Zotero / Mendeley</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b="1">
                          <a:solidFill>
                            <a:schemeClr val="dk1"/>
                          </a:solidFill>
                          <a:latin typeface="Calibri"/>
                          <a:ea typeface="Calibri"/>
                          <a:cs typeface="Calibri"/>
                          <a:sym typeface="Calibri"/>
                        </a:rPr>
                        <a:t>Tables &amp; Graphs:</a:t>
                      </a:r>
                      <a:r>
                        <a:rPr lang="en-US">
                          <a:solidFill>
                            <a:schemeClr val="dk1"/>
                          </a:solidFill>
                          <a:latin typeface="Calibri"/>
                          <a:ea typeface="Calibri"/>
                          <a:cs typeface="Calibri"/>
                          <a:sym typeface="Calibri"/>
                        </a:rPr>
                        <a:t> Excel / matplotlib / seaborn</a:t>
                      </a:r>
                      <a:endParaRPr>
                        <a:solidFill>
                          <a:schemeClr val="dk1"/>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5EA"/>
                    </a:solidFill>
                  </a:tcPr>
                </a:tc>
                <a:tc>
                  <a:txBody>
                    <a:bodyPr/>
                    <a:lstStyle/>
                    <a:p>
                      <a:pPr marL="0" lvl="0" indent="0" algn="l" rtl="0">
                        <a:lnSpc>
                          <a:spcPct val="115000"/>
                        </a:lnSpc>
                        <a:spcBef>
                          <a:spcPts val="0"/>
                        </a:spcBef>
                        <a:spcAft>
                          <a:spcPts val="0"/>
                        </a:spcAft>
                        <a:buSzPts val="1100"/>
                        <a:buNone/>
                      </a:pPr>
                      <a:r>
                        <a:rPr lang="en-US" b="1">
                          <a:solidFill>
                            <a:schemeClr val="dk1"/>
                          </a:solidFill>
                          <a:latin typeface="Calibri"/>
                          <a:ea typeface="Calibri"/>
                          <a:cs typeface="Calibri"/>
                          <a:sym typeface="Calibri"/>
                        </a:rPr>
                        <a:t>Experiments / Running Models/Survey:</a:t>
                      </a:r>
                      <a:endParaRPr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 CPU: 8-core Intel i7 / AMD Ryzen or better</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 RAM: 16 GB+ recommended</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US">
                          <a:solidFill>
                            <a:schemeClr val="dk1"/>
                          </a:solidFill>
                          <a:latin typeface="Calibri"/>
                          <a:ea typeface="Calibri"/>
                          <a:cs typeface="Calibri"/>
                          <a:sym typeface="Calibri"/>
                        </a:rPr>
                        <a:t>- GPU: Minimum NVIDIA T4 / RTX 3060 (12 GB VRAM); </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US">
                          <a:solidFill>
                            <a:schemeClr val="dk1"/>
                          </a:solidFill>
                          <a:latin typeface="Calibri"/>
                          <a:ea typeface="Calibri"/>
                          <a:cs typeface="Calibri"/>
                          <a:sym typeface="Calibri"/>
                        </a:rPr>
                        <a:t>- Storage: 500 GB SSD</a:t>
                      </a:r>
                      <a:endParaRPr>
                        <a:solidFill>
                          <a:schemeClr val="dk1"/>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5E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D7DFC1F0-6146-31EF-A2CA-9AE6A1894FB6}"/>
              </a:ext>
            </a:extLst>
          </p:cNvPr>
          <p:cNvSpPr>
            <a:spLocks noGrp="1" noChangeArrowheads="1"/>
          </p:cNvSpPr>
          <p:nvPr>
            <p:ph type="title"/>
          </p:nvPr>
        </p:nvSpPr>
        <p:spPr/>
        <p:txBody>
          <a:bodyPr/>
          <a:lstStyle/>
          <a:p>
            <a:pPr algn="ctr" eaLnBrk="1" hangingPunct="1"/>
            <a:r>
              <a:rPr lang="en-US" altLang="en-US" b="1" dirty="0"/>
              <a:t>PROPOSED SOLUTION</a:t>
            </a:r>
            <a:endParaRPr lang="en-IN" altLang="en-US" b="1" dirty="0"/>
          </a:p>
        </p:txBody>
      </p:sp>
      <p:sp>
        <p:nvSpPr>
          <p:cNvPr id="13315" name="Content Placeholder 2">
            <a:extLst>
              <a:ext uri="{FF2B5EF4-FFF2-40B4-BE49-F238E27FC236}">
                <a16:creationId xmlns:a16="http://schemas.microsoft.com/office/drawing/2014/main" id="{17A3D5EC-B90A-83B8-8933-50A654BAF82C}"/>
              </a:ext>
            </a:extLst>
          </p:cNvPr>
          <p:cNvSpPr>
            <a:spLocks noGrp="1" noChangeArrowheads="1"/>
          </p:cNvSpPr>
          <p:nvPr>
            <p:ph idx="1"/>
          </p:nvPr>
        </p:nvSpPr>
        <p:spPr/>
        <p:txBody>
          <a:bodyPr/>
          <a:lstStyle/>
          <a:p>
            <a:pPr algn="l"/>
            <a:r>
              <a:rPr lang="en-IN" sz="2000" b="0" i="0" dirty="0">
                <a:effectLst/>
                <a:latin typeface="+mn-lt"/>
              </a:rPr>
              <a:t>The proposed solution, ABD-GAF, is a hybrid fraud detection framework with three main parts. The first part is the </a:t>
            </a:r>
            <a:r>
              <a:rPr lang="en-IN" sz="2000" b="1" i="0" dirty="0" err="1">
                <a:effectLst/>
                <a:latin typeface="+mn-lt"/>
              </a:rPr>
              <a:t>Behavioral</a:t>
            </a:r>
            <a:r>
              <a:rPr lang="en-IN" sz="2000" b="1" i="0" dirty="0">
                <a:effectLst/>
                <a:latin typeface="+mn-lt"/>
              </a:rPr>
              <a:t> Drift Detection Module</a:t>
            </a:r>
            <a:r>
              <a:rPr lang="en-IN" sz="2000" b="0" i="0" dirty="0">
                <a:effectLst/>
                <a:latin typeface="+mn-lt"/>
              </a:rPr>
              <a:t>, which continuously tracks changes in user </a:t>
            </a:r>
            <a:r>
              <a:rPr lang="en-IN" sz="2000" b="0" i="0" dirty="0" err="1">
                <a:effectLst/>
                <a:latin typeface="+mn-lt"/>
              </a:rPr>
              <a:t>behavior</a:t>
            </a:r>
            <a:r>
              <a:rPr lang="en-IN" sz="2000" b="0" i="0" dirty="0">
                <a:effectLst/>
                <a:latin typeface="+mn-lt"/>
              </a:rPr>
              <a:t> using rolling or window-based summaries of transaction attributes such as amount, time gap, and spending frequency. If the current </a:t>
            </a:r>
            <a:r>
              <a:rPr lang="en-IN" sz="2000" b="0" i="0" dirty="0" err="1">
                <a:effectLst/>
                <a:latin typeface="+mn-lt"/>
              </a:rPr>
              <a:t>behavior</a:t>
            </a:r>
            <a:r>
              <a:rPr lang="en-IN" sz="2000" b="0" i="0" dirty="0">
                <a:effectLst/>
                <a:latin typeface="+mn-lt"/>
              </a:rPr>
              <a:t> deviates significantly from historical </a:t>
            </a:r>
            <a:r>
              <a:rPr lang="en-IN" sz="2000" b="0" i="0" dirty="0" err="1">
                <a:effectLst/>
                <a:latin typeface="+mn-lt"/>
              </a:rPr>
              <a:t>behavior</a:t>
            </a:r>
            <a:r>
              <a:rPr lang="en-IN" sz="2000" b="0" i="0" dirty="0">
                <a:effectLst/>
                <a:latin typeface="+mn-lt"/>
              </a:rPr>
              <a:t>, the system increases the drift score.</a:t>
            </a:r>
          </a:p>
          <a:p>
            <a:pPr algn="l"/>
            <a:r>
              <a:rPr lang="en-IN" sz="2000" b="0" i="0" dirty="0">
                <a:effectLst/>
                <a:latin typeface="+mn-lt"/>
              </a:rPr>
              <a:t>The second part is the </a:t>
            </a:r>
            <a:r>
              <a:rPr lang="en-IN" sz="2000" b="1" i="0" dirty="0">
                <a:effectLst/>
                <a:latin typeface="+mn-lt"/>
              </a:rPr>
              <a:t>Graph Anomaly Detection Module</a:t>
            </a:r>
            <a:r>
              <a:rPr lang="en-IN" sz="2000" b="0" i="0" dirty="0">
                <a:effectLst/>
                <a:latin typeface="+mn-lt"/>
              </a:rPr>
              <a:t>, which represents the transaction ecosystem as a graph. In this graph, nodes may represent cards, accounts, merchants, or devices, and edges represent transactions or interactions. Graph learning techniques such as GNNs or embedding-based anomaly scoring are used to identify suspicious structures, such as dense fraud rings or abnormal interaction patterns.</a:t>
            </a:r>
          </a:p>
          <a:p>
            <a:pPr algn="l"/>
            <a:r>
              <a:rPr lang="en-IN" sz="2000" b="0" i="0" dirty="0">
                <a:effectLst/>
                <a:latin typeface="+mn-lt"/>
              </a:rPr>
              <a:t>The third part is the </a:t>
            </a:r>
            <a:r>
              <a:rPr lang="en-IN" sz="2000" b="1" i="0" dirty="0">
                <a:effectLst/>
                <a:latin typeface="+mn-lt"/>
              </a:rPr>
              <a:t>Fusion and Decision Layer</a:t>
            </a:r>
            <a:r>
              <a:rPr lang="en-IN" sz="2000" b="0" i="0" dirty="0">
                <a:effectLst/>
                <a:latin typeface="+mn-lt"/>
              </a:rPr>
              <a:t>, which combines the drift score and graph anomaly score into a final fraud probability. This fusion improves both adaptability and detection coverage because a transaction can be flagged either due to abnormal </a:t>
            </a:r>
            <a:r>
              <a:rPr lang="en-IN" sz="2000" b="0" i="0" dirty="0" err="1">
                <a:effectLst/>
                <a:latin typeface="+mn-lt"/>
              </a:rPr>
              <a:t>behavior</a:t>
            </a:r>
            <a:r>
              <a:rPr lang="en-IN" sz="2000" b="0" i="0" dirty="0">
                <a:effectLst/>
                <a:latin typeface="+mn-lt"/>
              </a:rPr>
              <a:t> over time or due to suspicious relational context.</a:t>
            </a:r>
            <a:br>
              <a:rPr lang="en-IN" sz="1400" dirty="0"/>
            </a:br>
            <a:endParaRPr lang="en-I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8"/>
          <p:cNvSpPr txBox="1">
            <a:spLocks noGrp="1"/>
          </p:cNvSpPr>
          <p:nvPr>
            <p:ph type="title"/>
          </p:nvPr>
        </p:nvSpPr>
        <p:spPr>
          <a:xfrm>
            <a:off x="838200" y="243500"/>
            <a:ext cx="10515600" cy="8979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4400" b="1" i="0" u="none">
                <a:solidFill>
                  <a:schemeClr val="dk1"/>
                </a:solidFill>
                <a:latin typeface="Calibri"/>
                <a:ea typeface="Calibri"/>
                <a:cs typeface="Calibri"/>
                <a:sym typeface="Calibri"/>
              </a:rPr>
              <a:t>Dataset Details</a:t>
            </a:r>
            <a:endParaRPr/>
          </a:p>
        </p:txBody>
      </p:sp>
      <p:sp>
        <p:nvSpPr>
          <p:cNvPr id="236" name="Google Shape;236;p38"/>
          <p:cNvSpPr txBox="1">
            <a:spLocks noGrp="1"/>
          </p:cNvSpPr>
          <p:nvPr>
            <p:ph type="body" idx="1"/>
          </p:nvPr>
        </p:nvSpPr>
        <p:spPr>
          <a:xfrm>
            <a:off x="838200" y="1347275"/>
            <a:ext cx="10515600" cy="5127000"/>
          </a:xfrm>
          <a:prstGeom prst="rect">
            <a:avLst/>
          </a:prstGeom>
          <a:noFill/>
          <a:ln>
            <a:noFill/>
          </a:ln>
        </p:spPr>
        <p:txBody>
          <a:bodyPr spcFirstLastPara="1" wrap="square" lIns="91425" tIns="45700" rIns="91425" bIns="45700" anchor="t" anchorCtr="0">
            <a:noAutofit/>
          </a:bodyPr>
          <a:lstStyle/>
          <a:p>
            <a:pPr algn="l"/>
            <a:r>
              <a:rPr lang="en-IN" sz="2000" b="0" i="0" dirty="0">
                <a:effectLst/>
                <a:latin typeface="+mn-lt"/>
              </a:rPr>
              <a:t>The project is based on the widely used </a:t>
            </a:r>
            <a:r>
              <a:rPr lang="en-IN" sz="2000" b="1" i="0" dirty="0">
                <a:effectLst/>
                <a:latin typeface="+mn-lt"/>
              </a:rPr>
              <a:t>Kaggle Credit Card Fraud Detection dataset</a:t>
            </a:r>
            <a:r>
              <a:rPr lang="en-IN" sz="2000" b="0" i="0" dirty="0">
                <a:effectLst/>
                <a:latin typeface="+mn-lt"/>
              </a:rPr>
              <a:t>. It contains </a:t>
            </a:r>
            <a:r>
              <a:rPr lang="en-IN" sz="2000" b="1" i="0" dirty="0">
                <a:effectLst/>
                <a:latin typeface="+mn-lt"/>
              </a:rPr>
              <a:t>284,807 transactions</a:t>
            </a:r>
            <a:r>
              <a:rPr lang="en-IN" sz="2000" b="0" i="0" dirty="0">
                <a:effectLst/>
                <a:latin typeface="+mn-lt"/>
              </a:rPr>
              <a:t>, out of which </a:t>
            </a:r>
            <a:r>
              <a:rPr lang="en-IN" sz="2000" b="1" i="0" dirty="0">
                <a:effectLst/>
                <a:latin typeface="+mn-lt"/>
              </a:rPr>
              <a:t>492 are fraudulent</a:t>
            </a:r>
            <a:r>
              <a:rPr lang="en-IN" sz="2000" b="0" i="0" dirty="0">
                <a:effectLst/>
                <a:latin typeface="+mn-lt"/>
              </a:rPr>
              <a:t>, making the fraud rate about </a:t>
            </a:r>
            <a:r>
              <a:rPr lang="en-IN" sz="2000" b="1" i="0" dirty="0">
                <a:effectLst/>
                <a:latin typeface="+mn-lt"/>
              </a:rPr>
              <a:t>0.172%</a:t>
            </a:r>
            <a:r>
              <a:rPr lang="en-IN" sz="2000" b="0" i="0" dirty="0">
                <a:effectLst/>
                <a:latin typeface="+mn-lt"/>
              </a:rPr>
              <a:t>. The data is taken from transactions made by European cardholders in September 2013 and spans two days of activity.</a:t>
            </a:r>
          </a:p>
          <a:p>
            <a:pPr algn="l"/>
            <a:r>
              <a:rPr lang="en-IN" sz="2000" b="0" i="0" dirty="0">
                <a:effectLst/>
                <a:latin typeface="+mn-lt"/>
              </a:rPr>
              <a:t>The dataset contains </a:t>
            </a:r>
            <a:r>
              <a:rPr lang="en-IN" sz="2000" b="1" i="0" dirty="0">
                <a:effectLst/>
                <a:latin typeface="+mn-lt"/>
              </a:rPr>
              <a:t>30 features</a:t>
            </a:r>
            <a:r>
              <a:rPr lang="en-IN" sz="2000" b="0" i="0" dirty="0">
                <a:effectLst/>
                <a:latin typeface="+mn-lt"/>
              </a:rPr>
              <a:t> in total: </a:t>
            </a:r>
            <a:r>
              <a:rPr lang="en-IN" sz="2000" b="1" i="0" dirty="0">
                <a:effectLst/>
                <a:latin typeface="+mn-lt"/>
              </a:rPr>
              <a:t>V1 to V28</a:t>
            </a:r>
            <a:r>
              <a:rPr lang="en-IN" sz="2000" b="0" i="0" dirty="0">
                <a:effectLst/>
                <a:latin typeface="+mn-lt"/>
              </a:rPr>
              <a:t> are anonymized PCA-transformed features, while </a:t>
            </a:r>
            <a:r>
              <a:rPr lang="en-IN" sz="2000" b="1" i="0" dirty="0">
                <a:effectLst/>
                <a:latin typeface="+mn-lt"/>
              </a:rPr>
              <a:t>Time</a:t>
            </a:r>
            <a:r>
              <a:rPr lang="en-IN" sz="2000" b="0" i="0" dirty="0">
                <a:effectLst/>
                <a:latin typeface="+mn-lt"/>
              </a:rPr>
              <a:t> and </a:t>
            </a:r>
            <a:r>
              <a:rPr lang="en-IN" sz="2000" b="1" i="0" dirty="0">
                <a:effectLst/>
                <a:latin typeface="+mn-lt"/>
              </a:rPr>
              <a:t>Amount</a:t>
            </a:r>
            <a:r>
              <a:rPr lang="en-IN" sz="2000" b="0" i="0" dirty="0">
                <a:effectLst/>
                <a:latin typeface="+mn-lt"/>
              </a:rPr>
              <a:t> are the only non-PCA features. The target column is </a:t>
            </a:r>
            <a:r>
              <a:rPr lang="en-IN" sz="2000" b="1" i="0" dirty="0">
                <a:effectLst/>
                <a:latin typeface="+mn-lt"/>
              </a:rPr>
              <a:t>Class</a:t>
            </a:r>
            <a:r>
              <a:rPr lang="en-IN" sz="2000" b="0" i="0" dirty="0">
                <a:effectLst/>
                <a:latin typeface="+mn-lt"/>
              </a:rPr>
              <a:t>, where 1 indicates fraud and 0 indicates a genuine transaction. Because the data is highly imbalanced and anonymized, evaluation must focus on fraud-oriented metrics and careful </a:t>
            </a:r>
            <a:r>
              <a:rPr lang="en-IN" sz="2000" b="0" i="0" dirty="0" err="1">
                <a:effectLst/>
                <a:latin typeface="+mn-lt"/>
              </a:rPr>
              <a:t>preprocessing</a:t>
            </a:r>
            <a:r>
              <a:rPr lang="en-IN" sz="2000" b="0" i="0" dirty="0">
                <a:effectLst/>
                <a:latin typeface="+mn-lt"/>
              </a:rPr>
              <a:t>.</a:t>
            </a:r>
          </a:p>
          <a:p>
            <a:pPr algn="l"/>
            <a:r>
              <a:rPr lang="en-IN" sz="2000" b="0" i="0" dirty="0">
                <a:effectLst/>
                <a:latin typeface="+mn-lt"/>
              </a:rPr>
              <a:t>Important dataset characteristics:</a:t>
            </a:r>
          </a:p>
          <a:p>
            <a:pPr algn="l">
              <a:buFont typeface="Arial" panose="020B0604020202020204" pitchFamily="34" charset="0"/>
              <a:buChar char="•"/>
            </a:pPr>
            <a:r>
              <a:rPr lang="en-IN" sz="2000" b="0" i="0" dirty="0">
                <a:effectLst/>
                <a:latin typeface="+mn-lt"/>
              </a:rPr>
              <a:t>No missing values are typically reported.</a:t>
            </a:r>
          </a:p>
          <a:p>
            <a:pPr algn="l">
              <a:buFont typeface="Arial" panose="020B0604020202020204" pitchFamily="34" charset="0"/>
              <a:buChar char="•"/>
            </a:pPr>
            <a:r>
              <a:rPr lang="en-IN" sz="2000" b="0" i="0" dirty="0">
                <a:effectLst/>
                <a:latin typeface="+mn-lt"/>
              </a:rPr>
              <a:t>The majority class dominates heavily.</a:t>
            </a:r>
          </a:p>
          <a:p>
            <a:pPr algn="l">
              <a:buFont typeface="Arial" panose="020B0604020202020204" pitchFamily="34" charset="0"/>
              <a:buChar char="•"/>
            </a:pPr>
            <a:r>
              <a:rPr lang="en-IN" sz="2000" b="0" i="0" dirty="0">
                <a:effectLst/>
                <a:latin typeface="+mn-lt"/>
              </a:rPr>
              <a:t>The amount feature is useful for cost-sensitive learning.</a:t>
            </a:r>
          </a:p>
          <a:p>
            <a:pPr algn="l">
              <a:buFont typeface="Arial" panose="020B0604020202020204" pitchFamily="34" charset="0"/>
              <a:buChar char="•"/>
            </a:pPr>
            <a:r>
              <a:rPr lang="en-IN" sz="2000" b="0" i="0" dirty="0">
                <a:effectLst/>
                <a:latin typeface="+mn-lt"/>
              </a:rPr>
              <a:t>The time feature helps in temporal </a:t>
            </a:r>
            <a:r>
              <a:rPr lang="en-IN" sz="2000" b="0" i="0" dirty="0" err="1">
                <a:effectLst/>
                <a:latin typeface="+mn-lt"/>
              </a:rPr>
              <a:t>behavior</a:t>
            </a:r>
            <a:r>
              <a:rPr lang="en-IN" sz="2000" b="0" i="0" dirty="0">
                <a:effectLst/>
                <a:latin typeface="+mn-lt"/>
              </a:rPr>
              <a:t> analysis.</a:t>
            </a:r>
          </a:p>
          <a:p>
            <a:pPr marL="114300" indent="0">
              <a:buNone/>
            </a:pPr>
            <a:endParaRPr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388902C0-7B14-8F3B-B3BC-7E82DD49C0FF}"/>
              </a:ext>
            </a:extLst>
          </p:cNvPr>
          <p:cNvSpPr>
            <a:spLocks noGrp="1" noChangeArrowheads="1"/>
          </p:cNvSpPr>
          <p:nvPr>
            <p:ph type="title"/>
          </p:nvPr>
        </p:nvSpPr>
        <p:spPr/>
        <p:txBody>
          <a:bodyPr/>
          <a:lstStyle/>
          <a:p>
            <a:pPr algn="ctr"/>
            <a:r>
              <a:rPr lang="en-US" altLang="en-US" b="1"/>
              <a:t>METHODOLOGY</a:t>
            </a:r>
            <a:endParaRPr lang="en-IN" altLang="en-US" b="1"/>
          </a:p>
        </p:txBody>
      </p:sp>
      <p:sp>
        <p:nvSpPr>
          <p:cNvPr id="4" name="Text Placeholder 3">
            <a:extLst>
              <a:ext uri="{FF2B5EF4-FFF2-40B4-BE49-F238E27FC236}">
                <a16:creationId xmlns:a16="http://schemas.microsoft.com/office/drawing/2014/main" id="{627F8AFA-3196-3DF3-6176-E0198E3DD6F5}"/>
              </a:ext>
            </a:extLst>
          </p:cNvPr>
          <p:cNvSpPr>
            <a:spLocks noGrp="1"/>
          </p:cNvSpPr>
          <p:nvPr>
            <p:ph type="body" idx="1"/>
          </p:nvPr>
        </p:nvSpPr>
        <p:spPr/>
        <p:txBody>
          <a:bodyPr/>
          <a:lstStyle/>
          <a:p>
            <a:pPr algn="l"/>
            <a:r>
              <a:rPr lang="en-IN" sz="2000" b="0" i="0" dirty="0">
                <a:effectLst/>
                <a:latin typeface="+mn-lt"/>
              </a:rPr>
              <a:t>The methodology for ABD-GAF can be written in the following stages:</a:t>
            </a:r>
          </a:p>
          <a:p>
            <a:pPr algn="l"/>
            <a:r>
              <a:rPr lang="en-IN" sz="2000" b="1" i="0" dirty="0">
                <a:effectLst/>
                <a:latin typeface="+mn-lt"/>
              </a:rPr>
              <a:t>Data </a:t>
            </a:r>
            <a:r>
              <a:rPr lang="en-IN" sz="2000" b="1" i="0" dirty="0" err="1">
                <a:effectLst/>
                <a:latin typeface="+mn-lt"/>
              </a:rPr>
              <a:t>preprocessing</a:t>
            </a:r>
            <a:endParaRPr lang="en-IN" sz="2000" b="1" i="0" dirty="0">
              <a:effectLst/>
              <a:latin typeface="+mn-lt"/>
            </a:endParaRPr>
          </a:p>
          <a:p>
            <a:pPr algn="l"/>
            <a:r>
              <a:rPr lang="en-IN" sz="2000" b="0" i="0" dirty="0">
                <a:effectLst/>
                <a:latin typeface="+mn-lt"/>
              </a:rPr>
              <a:t>Transactions are cleaned, scaled, and organized into time windows to capture evolving </a:t>
            </a:r>
            <a:r>
              <a:rPr lang="en-IN" sz="2000" b="0" i="0" dirty="0" err="1">
                <a:effectLst/>
                <a:latin typeface="+mn-lt"/>
              </a:rPr>
              <a:t>behavior</a:t>
            </a:r>
            <a:r>
              <a:rPr lang="en-IN" sz="2000" b="0" i="0" dirty="0">
                <a:effectLst/>
                <a:latin typeface="+mn-lt"/>
              </a:rPr>
              <a:t>. The Amount and Time attributes are normalized, and the class imbalance may be handled through techniques such as SMOTE or </a:t>
            </a:r>
            <a:r>
              <a:rPr lang="en-IN" sz="2000" b="0" i="0" dirty="0" err="1">
                <a:effectLst/>
                <a:latin typeface="+mn-lt"/>
              </a:rPr>
              <a:t>undersampling</a:t>
            </a:r>
            <a:r>
              <a:rPr lang="en-IN" sz="2000" b="0" i="0" dirty="0">
                <a:effectLst/>
                <a:latin typeface="+mn-lt"/>
              </a:rPr>
              <a:t> depending on the experiment setup.</a:t>
            </a:r>
          </a:p>
          <a:p>
            <a:pPr algn="l"/>
            <a:r>
              <a:rPr lang="en-IN" sz="2000" b="1" i="0" dirty="0" err="1">
                <a:effectLst/>
                <a:latin typeface="+mn-lt"/>
              </a:rPr>
              <a:t>Behavioral</a:t>
            </a:r>
            <a:r>
              <a:rPr lang="en-IN" sz="2000" b="1" i="0" dirty="0">
                <a:effectLst/>
                <a:latin typeface="+mn-lt"/>
              </a:rPr>
              <a:t> drift tracking</a:t>
            </a:r>
          </a:p>
          <a:p>
            <a:pPr algn="l"/>
            <a:r>
              <a:rPr lang="en-IN" sz="2000" b="0" i="0" dirty="0">
                <a:effectLst/>
                <a:latin typeface="+mn-lt"/>
              </a:rPr>
              <a:t>The model computes how much the current transaction pattern differs from historical user </a:t>
            </a:r>
            <a:r>
              <a:rPr lang="en-IN" sz="2000" b="0" i="0" dirty="0" err="1">
                <a:effectLst/>
                <a:latin typeface="+mn-lt"/>
              </a:rPr>
              <a:t>behavior</a:t>
            </a:r>
            <a:r>
              <a:rPr lang="en-IN" sz="2000" b="0" i="0" dirty="0">
                <a:effectLst/>
                <a:latin typeface="+mn-lt"/>
              </a:rPr>
              <a:t>. This can be done using moving averages, rolling statistics, or drift thresholds over transaction windows. When deviation crosses the threshold, the transaction receives a higher </a:t>
            </a:r>
            <a:r>
              <a:rPr lang="en-IN" sz="2000" b="0" i="0" dirty="0" err="1">
                <a:effectLst/>
                <a:latin typeface="+mn-lt"/>
              </a:rPr>
              <a:t>behavioral</a:t>
            </a:r>
            <a:r>
              <a:rPr lang="en-IN" sz="2000" b="0" i="0" dirty="0">
                <a:effectLst/>
                <a:latin typeface="+mn-lt"/>
              </a:rPr>
              <a:t> anomaly score.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6CE384-87AA-7628-50C0-10C975031583}"/>
              </a:ext>
            </a:extLst>
          </p:cNvPr>
          <p:cNvSpPr>
            <a:spLocks noGrp="1"/>
          </p:cNvSpPr>
          <p:nvPr>
            <p:ph type="body" idx="1"/>
          </p:nvPr>
        </p:nvSpPr>
        <p:spPr>
          <a:xfrm>
            <a:off x="838200" y="426721"/>
            <a:ext cx="10515600" cy="5750242"/>
          </a:xfrm>
        </p:spPr>
        <p:txBody>
          <a:bodyPr/>
          <a:lstStyle/>
          <a:p>
            <a:pPr algn="l"/>
            <a:r>
              <a:rPr lang="en-IN" sz="2000" b="1" i="0" dirty="0">
                <a:effectLst/>
                <a:latin typeface="+mn-lt"/>
              </a:rPr>
              <a:t>Graph construction</a:t>
            </a:r>
          </a:p>
          <a:p>
            <a:pPr algn="l"/>
            <a:r>
              <a:rPr lang="en-IN" sz="2000" b="0" i="0" dirty="0">
                <a:effectLst/>
                <a:latin typeface="+mn-lt"/>
              </a:rPr>
              <a:t>A transaction graph is built where entities such as cards, devices, accounts, or merchants are nodes. Transactions become edges, and edge weights may reflect frequency, amount, or recency. This helps the system discover suspicious communities or connected fraud </a:t>
            </a:r>
            <a:r>
              <a:rPr lang="en-IN" sz="2000" b="0" i="0" dirty="0" err="1">
                <a:effectLst/>
                <a:latin typeface="+mn-lt"/>
              </a:rPr>
              <a:t>behavior</a:t>
            </a:r>
            <a:r>
              <a:rPr lang="en-IN" sz="2000" b="0" i="0" dirty="0">
                <a:effectLst/>
                <a:latin typeface="+mn-lt"/>
              </a:rPr>
              <a:t>.</a:t>
            </a:r>
          </a:p>
          <a:p>
            <a:pPr algn="l"/>
            <a:r>
              <a:rPr lang="en-IN" sz="2000" b="1" i="0" dirty="0">
                <a:effectLst/>
                <a:latin typeface="+mn-lt"/>
              </a:rPr>
              <a:t>Graph anomaly scoring</a:t>
            </a:r>
          </a:p>
          <a:p>
            <a:pPr algn="l"/>
            <a:r>
              <a:rPr lang="en-IN" sz="2000" b="0" i="0" dirty="0">
                <a:effectLst/>
                <a:latin typeface="+mn-lt"/>
              </a:rPr>
              <a:t>The graph module learns node or subgraph representations and flags unusual patterns that differ from normal relational </a:t>
            </a:r>
            <a:r>
              <a:rPr lang="en-IN" sz="2000" b="0" i="0" dirty="0" err="1">
                <a:effectLst/>
                <a:latin typeface="+mn-lt"/>
              </a:rPr>
              <a:t>behavior</a:t>
            </a:r>
            <a:r>
              <a:rPr lang="en-IN" sz="2000" b="0" i="0" dirty="0">
                <a:effectLst/>
                <a:latin typeface="+mn-lt"/>
              </a:rPr>
              <a:t>. Graph neural networks and anomaly detection methods are especially effective here because they can capture network structure and local </a:t>
            </a:r>
            <a:r>
              <a:rPr lang="en-IN" sz="2000" b="0" i="0" dirty="0" err="1">
                <a:effectLst/>
                <a:latin typeface="+mn-lt"/>
              </a:rPr>
              <a:t>neighborhood</a:t>
            </a:r>
            <a:r>
              <a:rPr lang="en-IN" sz="2000" b="0" i="0" dirty="0">
                <a:effectLst/>
                <a:latin typeface="+mn-lt"/>
              </a:rPr>
              <a:t> irregularity.</a:t>
            </a:r>
          </a:p>
          <a:p>
            <a:pPr algn="l"/>
            <a:r>
              <a:rPr lang="en-IN" sz="2000" b="1" i="0" dirty="0">
                <a:effectLst/>
                <a:latin typeface="+mn-lt"/>
              </a:rPr>
              <a:t>Fusion and classification</a:t>
            </a:r>
          </a:p>
          <a:p>
            <a:pPr algn="l"/>
            <a:r>
              <a:rPr lang="en-IN" sz="2000" b="0" i="0" dirty="0">
                <a:effectLst/>
                <a:latin typeface="+mn-lt"/>
              </a:rPr>
              <a:t>The drift score and graph anomaly score are merged using a weighted fusion strategy. The final score is then classified using a threshold optimized on validation data. This gives the system a single fraud decision while preserving the benefits of both temporal and relational </a:t>
            </a:r>
            <a:r>
              <a:rPr lang="en-IN" sz="2000" b="0" i="0" dirty="0" err="1">
                <a:effectLst/>
                <a:latin typeface="+mn-lt"/>
              </a:rPr>
              <a:t>modeling</a:t>
            </a:r>
            <a:r>
              <a:rPr lang="en-IN" sz="2000" b="0" i="0" dirty="0">
                <a:effectLst/>
                <a:latin typeface="+mn-lt"/>
              </a:rPr>
              <a:t>.</a:t>
            </a:r>
          </a:p>
          <a:p>
            <a:pPr algn="l"/>
            <a:endParaRPr lang="en-IN" sz="2000" b="0" i="0" dirty="0">
              <a:effectLst/>
              <a:latin typeface="+mn-lt"/>
            </a:endParaRPr>
          </a:p>
          <a:p>
            <a:endParaRPr lang="en-US" sz="2000" dirty="0"/>
          </a:p>
        </p:txBody>
      </p:sp>
    </p:spTree>
    <p:extLst>
      <p:ext uri="{BB962C8B-B14F-4D97-AF65-F5344CB8AC3E}">
        <p14:creationId xmlns:p14="http://schemas.microsoft.com/office/powerpoint/2010/main" val="4254816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3EFB4EE-7B4C-EF48-F55A-035B0D1E4002}"/>
              </a:ext>
            </a:extLst>
          </p:cNvPr>
          <p:cNvSpPr>
            <a:spLocks noGrp="1"/>
          </p:cNvSpPr>
          <p:nvPr>
            <p:ph type="body" idx="1"/>
          </p:nvPr>
        </p:nvSpPr>
        <p:spPr>
          <a:xfrm>
            <a:off x="838200" y="304801"/>
            <a:ext cx="10515600" cy="5872162"/>
          </a:xfrm>
        </p:spPr>
        <p:txBody>
          <a:bodyPr/>
          <a:lstStyle/>
          <a:p>
            <a:pPr algn="l"/>
            <a:r>
              <a:rPr lang="en-IN" sz="2000" b="1" i="0" dirty="0">
                <a:effectLst/>
                <a:latin typeface="+mn-lt"/>
              </a:rPr>
              <a:t>Conclusion</a:t>
            </a:r>
          </a:p>
          <a:p>
            <a:pPr algn="l"/>
            <a:r>
              <a:rPr lang="en-IN" sz="2000" b="0" i="0" dirty="0">
                <a:effectLst/>
                <a:latin typeface="+mn-lt"/>
              </a:rPr>
              <a:t>ABD-GAF provides a practical and effective framework for modern fraud detection because it handles both changing </a:t>
            </a:r>
            <a:r>
              <a:rPr lang="en-IN" sz="2000" b="0" i="0" dirty="0" err="1">
                <a:effectLst/>
                <a:latin typeface="+mn-lt"/>
              </a:rPr>
              <a:t>behavior</a:t>
            </a:r>
            <a:r>
              <a:rPr lang="en-IN" sz="2000" b="0" i="0" dirty="0">
                <a:effectLst/>
                <a:latin typeface="+mn-lt"/>
              </a:rPr>
              <a:t> and relational anomalies. Unlike static models that rely only on transaction features, this hybrid approach adapts to concept drift and also captures hidden fraud networks. This makes it stronger for real-world financial systems where fraud patterns evolve continuously.</a:t>
            </a:r>
          </a:p>
          <a:p>
            <a:pPr algn="l"/>
            <a:r>
              <a:rPr lang="en-IN" sz="2000" b="0" i="0" dirty="0">
                <a:effectLst/>
                <a:latin typeface="+mn-lt"/>
              </a:rPr>
              <a:t>The main advantage of the approach is that it can improve precision and recall at the same time, which is very important in fraud detection because false positives create operational costs and false negatives create financial losses. Future work can extend the system with explainable AI, federated learning, or streaming deployment for larger real-time environments.</a:t>
            </a:r>
          </a:p>
          <a:p>
            <a:endParaRPr lang="en-US" sz="2000" dirty="0">
              <a:latin typeface="+mn-lt"/>
            </a:endParaRPr>
          </a:p>
        </p:txBody>
      </p:sp>
    </p:spTree>
    <p:extLst>
      <p:ext uri="{BB962C8B-B14F-4D97-AF65-F5344CB8AC3E}">
        <p14:creationId xmlns:p14="http://schemas.microsoft.com/office/powerpoint/2010/main" val="678869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F66568AF-F903-B790-A5AB-C5D468D393C9}"/>
              </a:ext>
            </a:extLst>
          </p:cNvPr>
          <p:cNvSpPr>
            <a:spLocks noGrp="1" noChangeArrowheads="1"/>
          </p:cNvSpPr>
          <p:nvPr>
            <p:ph type="title"/>
          </p:nvPr>
        </p:nvSpPr>
        <p:spPr/>
        <p:txBody>
          <a:bodyPr/>
          <a:lstStyle/>
          <a:p>
            <a:pPr algn="ctr"/>
            <a:r>
              <a:rPr lang="en-US" altLang="en-US" b="1"/>
              <a:t>CONCLUSION</a:t>
            </a:r>
            <a:endParaRPr lang="en-IN" altLang="en-US" b="1"/>
          </a:p>
        </p:txBody>
      </p:sp>
      <p:sp>
        <p:nvSpPr>
          <p:cNvPr id="18435" name="Content Placeholder 2">
            <a:extLst>
              <a:ext uri="{FF2B5EF4-FFF2-40B4-BE49-F238E27FC236}">
                <a16:creationId xmlns:a16="http://schemas.microsoft.com/office/drawing/2014/main" id="{C77A3A34-6799-38ED-A7E3-3B533F5BF6F3}"/>
              </a:ext>
            </a:extLst>
          </p:cNvPr>
          <p:cNvSpPr>
            <a:spLocks noGrp="1" noChangeArrowheads="1"/>
          </p:cNvSpPr>
          <p:nvPr>
            <p:ph idx="1"/>
          </p:nvPr>
        </p:nvSpPr>
        <p:spPr/>
        <p:txBody>
          <a:bodyPr/>
          <a:lstStyle/>
          <a:p>
            <a:pPr algn="l"/>
            <a:r>
              <a:rPr lang="en-IN" sz="2000" b="0" i="0" dirty="0">
                <a:effectLst/>
                <a:latin typeface="+mn-lt"/>
              </a:rPr>
              <a:t>ABD-GAF provides a practical and effective framework for modern fraud detection because it handles both changing </a:t>
            </a:r>
            <a:r>
              <a:rPr lang="en-IN" sz="2000" b="0" i="0" dirty="0" err="1">
                <a:effectLst/>
                <a:latin typeface="+mn-lt"/>
              </a:rPr>
              <a:t>behavior</a:t>
            </a:r>
            <a:r>
              <a:rPr lang="en-IN" sz="2000" b="0" i="0" dirty="0">
                <a:effectLst/>
                <a:latin typeface="+mn-lt"/>
              </a:rPr>
              <a:t> and relational anomalies. Unlike static models that rely only on transaction features, this hybrid approach adapts to concept drift and also captures hidden fraud networks. This makes it stronger for real-world financial systems where fraud patterns evolve continuously.</a:t>
            </a:r>
          </a:p>
          <a:p>
            <a:pPr algn="l"/>
            <a:r>
              <a:rPr lang="en-IN" sz="2000" b="0" i="0" dirty="0">
                <a:effectLst/>
                <a:latin typeface="+mn-lt"/>
              </a:rPr>
              <a:t>The main advantage of the approach is that it can improve precision and recall at the same time, which is very important in fraud detection because false positives create operational costs and false negatives create financial losses. Future work can extend the system with explainable AI, federated learning, or streaming deployment for larger real-time environments.</a:t>
            </a:r>
          </a:p>
          <a:p>
            <a:pPr marL="114300" indent="0">
              <a:buNone/>
            </a:pPr>
            <a:endParaRPr lang="en-I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9"/>
          <p:cNvSpPr txBox="1">
            <a:spLocks noGrp="1"/>
          </p:cNvSpPr>
          <p:nvPr>
            <p:ph type="title"/>
          </p:nvPr>
        </p:nvSpPr>
        <p:spPr>
          <a:xfrm>
            <a:off x="838200" y="280900"/>
            <a:ext cx="10515600" cy="7296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400"/>
              <a:buFont typeface="Calibri"/>
              <a:buNone/>
            </a:pPr>
            <a:r>
              <a:rPr lang="en-US" sz="4400" b="1" i="0" u="none">
                <a:solidFill>
                  <a:schemeClr val="dk1"/>
                </a:solidFill>
                <a:latin typeface="Calibri"/>
                <a:ea typeface="Calibri"/>
                <a:cs typeface="Calibri"/>
                <a:sym typeface="Calibri"/>
              </a:rPr>
              <a:t>REFERENCES</a:t>
            </a:r>
            <a:endParaRPr/>
          </a:p>
        </p:txBody>
      </p:sp>
      <p:sp>
        <p:nvSpPr>
          <p:cNvPr id="242" name="Google Shape;242;p39"/>
          <p:cNvSpPr txBox="1">
            <a:spLocks noGrp="1"/>
          </p:cNvSpPr>
          <p:nvPr>
            <p:ph type="body" idx="1"/>
          </p:nvPr>
        </p:nvSpPr>
        <p:spPr>
          <a:xfrm>
            <a:off x="838200" y="1010500"/>
            <a:ext cx="10613700" cy="5463900"/>
          </a:xfrm>
          <a:prstGeom prst="rect">
            <a:avLst/>
          </a:prstGeom>
          <a:noFill/>
          <a:ln>
            <a:noFill/>
          </a:ln>
        </p:spPr>
        <p:txBody>
          <a:bodyPr spcFirstLastPara="1" wrap="square" lIns="91425" tIns="45700" rIns="91425" bIns="45700" anchor="t" anchorCtr="0">
            <a:noAutofit/>
          </a:bodyPr>
          <a:lstStyle/>
          <a:p>
            <a:pPr algn="l">
              <a:buFont typeface="+mj-lt"/>
              <a:buAutoNum type="arabicPeriod"/>
            </a:pPr>
            <a:r>
              <a:rPr lang="en-IN" sz="1100" b="0" i="0" dirty="0">
                <a:effectLst/>
                <a:latin typeface="pplxSerif"/>
              </a:rPr>
              <a:t>Dal </a:t>
            </a:r>
            <a:r>
              <a:rPr lang="en-IN" sz="1100" b="0" i="0" dirty="0" err="1">
                <a:effectLst/>
                <a:latin typeface="pplxSerif"/>
              </a:rPr>
              <a:t>Pozzolo</a:t>
            </a:r>
            <a:r>
              <a:rPr lang="en-IN" sz="1100" b="0" i="0" dirty="0">
                <a:effectLst/>
                <a:latin typeface="pplxSerif"/>
              </a:rPr>
              <a:t>, A., </a:t>
            </a:r>
            <a:r>
              <a:rPr lang="en-IN" sz="1100" b="0" i="0" dirty="0" err="1">
                <a:effectLst/>
                <a:latin typeface="pplxSerif"/>
              </a:rPr>
              <a:t>Boracchi</a:t>
            </a:r>
            <a:r>
              <a:rPr lang="en-IN" sz="1100" b="0" i="0" dirty="0">
                <a:effectLst/>
                <a:latin typeface="pplxSerif"/>
              </a:rPr>
              <a:t>, G., </a:t>
            </a:r>
            <a:r>
              <a:rPr lang="en-IN" sz="1100" b="0" i="0" dirty="0" err="1">
                <a:effectLst/>
                <a:latin typeface="pplxSerif"/>
              </a:rPr>
              <a:t>Caelen</a:t>
            </a:r>
            <a:r>
              <a:rPr lang="en-IN" sz="1100" b="0" i="0" dirty="0">
                <a:effectLst/>
                <a:latin typeface="pplxSerif"/>
              </a:rPr>
              <a:t>, O., </a:t>
            </a:r>
            <a:r>
              <a:rPr lang="en-IN" sz="1100" b="0" i="0" dirty="0" err="1">
                <a:effectLst/>
                <a:latin typeface="pplxSerif"/>
              </a:rPr>
              <a:t>Alippi</a:t>
            </a:r>
            <a:r>
              <a:rPr lang="en-IN" sz="1100" b="0" i="0" dirty="0">
                <a:effectLst/>
                <a:latin typeface="pplxSerif"/>
              </a:rPr>
              <a:t>, C., and </a:t>
            </a:r>
            <a:r>
              <a:rPr lang="en-IN" sz="1100" b="0" i="0" dirty="0" err="1">
                <a:effectLst/>
                <a:latin typeface="pplxSerif"/>
              </a:rPr>
              <a:t>Bontempi</a:t>
            </a:r>
            <a:r>
              <a:rPr lang="en-IN" sz="1100" b="0" i="0" dirty="0">
                <a:effectLst/>
                <a:latin typeface="pplxSerif"/>
              </a:rPr>
              <a:t>, G., “Credit Card Fraud Detection and Concept-Drift Adaptation with Delayed Supervised Information,” 2015.</a:t>
            </a:r>
          </a:p>
          <a:p>
            <a:pPr algn="l">
              <a:buFont typeface="+mj-lt"/>
              <a:buAutoNum type="arabicPeriod"/>
            </a:pPr>
            <a:r>
              <a:rPr lang="en-IN" sz="1100" b="0" i="0" dirty="0">
                <a:effectLst/>
                <a:latin typeface="pplxSerif"/>
              </a:rPr>
              <a:t>“Credit Card Fraud Detection” Kaggle Dataset, MLG-ULB.</a:t>
            </a:r>
          </a:p>
          <a:p>
            <a:pPr algn="l">
              <a:buFont typeface="+mj-lt"/>
              <a:buAutoNum type="arabicPeriod"/>
            </a:pPr>
            <a:r>
              <a:rPr lang="en-IN" sz="1100" b="0" i="0" dirty="0">
                <a:effectLst/>
                <a:latin typeface="pplxSerif"/>
              </a:rPr>
              <a:t>“Graph based Anomaly Detection and Description: A Survey,” 2014.</a:t>
            </a:r>
          </a:p>
          <a:p>
            <a:pPr algn="l">
              <a:buFont typeface="+mj-lt"/>
              <a:buAutoNum type="arabicPeriod"/>
            </a:pPr>
            <a:r>
              <a:rPr lang="en-IN" sz="1100" b="0" i="0" dirty="0">
                <a:effectLst/>
                <a:latin typeface="pplxSerif"/>
              </a:rPr>
              <a:t>“Graph Neural Networks for Financial Fraud Detection: A Review,” 2024.</a:t>
            </a:r>
          </a:p>
          <a:p>
            <a:pPr algn="l">
              <a:buFont typeface="+mj-lt"/>
              <a:buAutoNum type="arabicPeriod"/>
            </a:pPr>
            <a:r>
              <a:rPr lang="en-IN" sz="1100" b="0" i="0" dirty="0">
                <a:effectLst/>
                <a:latin typeface="pplxSerif"/>
              </a:rPr>
              <a:t>“Adapting to Concept Drift in Credit Card Transaction Data Streams Using Contextual Bandits and Decision Rules,” 2023.</a:t>
            </a:r>
          </a:p>
          <a:p>
            <a:pPr algn="l">
              <a:buFont typeface="+mj-lt"/>
              <a:buAutoNum type="arabicPeriod"/>
            </a:pPr>
            <a:r>
              <a:rPr lang="en-IN" sz="1100" b="0" i="0" dirty="0">
                <a:effectLst/>
                <a:latin typeface="pplxSerif"/>
              </a:rPr>
              <a:t>“Credit card fraud detection based on federated graph learning,” 2024.</a:t>
            </a:r>
          </a:p>
          <a:p>
            <a:pPr marL="457200" lvl="0" indent="0" algn="l" rtl="0">
              <a:lnSpc>
                <a:spcPct val="115000"/>
              </a:lnSpc>
              <a:spcBef>
                <a:spcPts val="0"/>
              </a:spcBef>
              <a:spcAft>
                <a:spcPts val="0"/>
              </a:spcAft>
              <a:buNone/>
            </a:pPr>
            <a:endParaRPr sz="1600" dirty="0"/>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8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9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0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1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1069</TotalTime>
  <Words>2341</Words>
  <Application>Microsoft Macintosh PowerPoint</Application>
  <PresentationFormat>Widescreen</PresentationFormat>
  <Paragraphs>140</Paragraphs>
  <Slides>15</Slides>
  <Notes>10</Notes>
  <HiddenSlides>0</HiddenSlides>
  <MMClips>0</MMClips>
  <ScaleCrop>false</ScaleCrop>
  <HeadingPairs>
    <vt:vector size="6" baseType="variant">
      <vt:variant>
        <vt:lpstr>Fonts Used</vt:lpstr>
      </vt:variant>
      <vt:variant>
        <vt:i4>4</vt:i4>
      </vt:variant>
      <vt:variant>
        <vt:lpstr>Theme</vt:lpstr>
      </vt:variant>
      <vt:variant>
        <vt:i4>12</vt:i4>
      </vt:variant>
      <vt:variant>
        <vt:lpstr>Slide Titles</vt:lpstr>
      </vt:variant>
      <vt:variant>
        <vt:i4>15</vt:i4>
      </vt:variant>
    </vt:vector>
  </HeadingPairs>
  <TitlesOfParts>
    <vt:vector size="31" baseType="lpstr">
      <vt:lpstr>Arial</vt:lpstr>
      <vt:lpstr>Calibri</vt:lpstr>
      <vt:lpstr>pplxSerif</vt:lpstr>
      <vt:lpstr>Times New Roman</vt:lpstr>
      <vt:lpstr>1_Office Theme</vt:lpstr>
      <vt:lpstr>2_Office Theme</vt:lpstr>
      <vt:lpstr>Office Theme</vt:lpstr>
      <vt:lpstr>3_Office Theme</vt:lpstr>
      <vt:lpstr>4_Office Theme</vt:lpstr>
      <vt:lpstr>5_Office Theme</vt:lpstr>
      <vt:lpstr>6_Office Theme</vt:lpstr>
      <vt:lpstr>7_Office Theme</vt:lpstr>
      <vt:lpstr>8_Office Theme</vt:lpstr>
      <vt:lpstr>9_Office Theme</vt:lpstr>
      <vt:lpstr>10_Office Theme</vt:lpstr>
      <vt:lpstr>11_Office Theme</vt:lpstr>
      <vt:lpstr>PowerPoint Presentation</vt:lpstr>
      <vt:lpstr>ABSTRACT</vt:lpstr>
      <vt:lpstr>INTRODUCTION</vt:lpstr>
      <vt:lpstr>PROBLEM STATEMENT</vt:lpstr>
      <vt:lpstr>OBJECTIVES</vt:lpstr>
      <vt:lpstr>Literature Survey</vt:lpstr>
      <vt:lpstr>PowerPoint Presentation</vt:lpstr>
      <vt:lpstr>Software and Hardware Requirements</vt:lpstr>
      <vt:lpstr>PROPOSED SOLUTION</vt:lpstr>
      <vt:lpstr>Dataset Details</vt:lpstr>
      <vt:lpstr>METHODOLOGY</vt:lpstr>
      <vt:lpstr>PowerPoint Presentation</vt:lpstr>
      <vt:lpstr>PowerPoint Presentation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Office User</cp:lastModifiedBy>
  <cp:revision>4</cp:revision>
  <dcterms:modified xsi:type="dcterms:W3CDTF">2026-04-04T12:40:49Z</dcterms:modified>
</cp:coreProperties>
</file>